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we are presenting WorldCupGPT, our Track 1 submission for the World Cup GenAI Hackathon. It is a LangChain powered chatbot for questions about World Cup history, team statistics, and match predictions. (15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 1 asks for a chatbot that handles three jobs: history Q&amp;A, team stats, and match predictions. Most teams will use one RAG chain. We chose to go further and build a ReAct agent that can route between four specialized tools. (30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architecture. The user types a question, our ReAct agent decides which of four tools to call, the tool returns an answer plus evidence and limitations, and the Streamlit UI renders it with a chart and a live reasoning trace. Two memory layers run in parallel: conversation history and user preferences. (45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chose the martj42 Kaggle dataset, which has 136K downloads and is actively maintained. We cite the URL in our README, cache the CSVs in the repo, validate the schema on load, and cross-reference penalty shootouts so titles like Italy 2006 are correctly counted. (30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our four tools. Each one is a Python function the agent can call. They all return a standard ToolOutput dataclass: answer plus evidence plus limitations. The agent picks one tool per question based on the tool descriptions. (45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run a quick live demo. Five clicks cover all four tools, the memory, and the visuals. Watch the sidebar on the left and the agent reasoning panel on the right while I type. (2 to 2.5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run through what makes us different. The explainability panel, the auto-rendered charts, and the preferences memory are the three features judges should remember. (45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ReAct agents are powerful with very little setup. The most important lesson we took away is that tool descriptions and the agent prompt drive behavior more than the model choice does. Thank you, questions welcome. (30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eenu1234/WorldCupGenAI"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eenu1234/WorldCupGenAI" TargetMode="External"/><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0"/>
            <a:ext cx="11247120" cy="548640"/>
          </a:xfrm>
          <a:prstGeom prst="rect">
            <a:avLst/>
          </a:prstGeom>
          <a:noFill/>
        </p:spPr>
        <p:txBody>
          <a:bodyPr wrap="square" lIns="45720" rIns="45720">
            <a:spAutoFit/>
          </a:bodyPr>
          <a:lstStyle/>
          <a:p>
            <a:pPr algn="ctr"/>
            <a:r>
              <a:rPr sz="1400" b="1">
                <a:solidFill>
                  <a:srgbClr val="FFD700"/>
                </a:solidFill>
                <a:latin typeface="Calibri"/>
              </a:rPr>
              <a:t>WORLD CUP GENAI HACKATHON  ·  TRACK 1</a:t>
            </a:r>
          </a:p>
        </p:txBody>
      </p:sp>
      <p:sp>
        <p:nvSpPr>
          <p:cNvPr id="4" name="TextBox 3"/>
          <p:cNvSpPr txBox="1"/>
          <p:nvPr/>
        </p:nvSpPr>
        <p:spPr>
          <a:xfrm>
            <a:off x="457200" y="2377440"/>
            <a:ext cx="11247120" cy="1097280"/>
          </a:xfrm>
          <a:prstGeom prst="rect">
            <a:avLst/>
          </a:prstGeom>
          <a:noFill/>
        </p:spPr>
        <p:txBody>
          <a:bodyPr wrap="square" lIns="45720" rIns="45720">
            <a:spAutoFit/>
          </a:bodyPr>
          <a:lstStyle/>
          <a:p>
            <a:pPr algn="ctr"/>
            <a:r>
              <a:rPr sz="6800" b="1">
                <a:solidFill>
                  <a:srgbClr val="FFFFFF"/>
                </a:solidFill>
                <a:latin typeface="Calibri"/>
              </a:rPr>
              <a:t>WorldCupGPT</a:t>
            </a:r>
          </a:p>
        </p:txBody>
      </p:sp>
      <p:sp>
        <p:nvSpPr>
          <p:cNvPr id="5" name="TextBox 4"/>
          <p:cNvSpPr txBox="1"/>
          <p:nvPr/>
        </p:nvSpPr>
        <p:spPr>
          <a:xfrm>
            <a:off x="457200" y="3657600"/>
            <a:ext cx="11247120" cy="731520"/>
          </a:xfrm>
          <a:prstGeom prst="rect">
            <a:avLst/>
          </a:prstGeom>
          <a:noFill/>
        </p:spPr>
        <p:txBody>
          <a:bodyPr wrap="square" lIns="45720" rIns="45720">
            <a:spAutoFit/>
          </a:bodyPr>
          <a:lstStyle/>
          <a:p>
            <a:pPr algn="ctr"/>
            <a:r>
              <a:rPr sz="2200" b="0">
                <a:solidFill>
                  <a:srgbClr val="E0E8F5"/>
                </a:solidFill>
                <a:latin typeface="Calibri"/>
              </a:rPr>
              <a:t>A LangChain agent for World Cup history, stats, and match predictions</a:t>
            </a:r>
          </a:p>
        </p:txBody>
      </p:sp>
      <p:sp>
        <p:nvSpPr>
          <p:cNvPr id="6" name="TextBox 5"/>
          <p:cNvSpPr txBox="1"/>
          <p:nvPr/>
        </p:nvSpPr>
        <p:spPr>
          <a:xfrm>
            <a:off x="457200" y="5029200"/>
            <a:ext cx="11247120" cy="457200"/>
          </a:xfrm>
          <a:prstGeom prst="rect">
            <a:avLst/>
          </a:prstGeom>
          <a:noFill/>
        </p:spPr>
        <p:txBody>
          <a:bodyPr wrap="square" lIns="45720" rIns="45720">
            <a:spAutoFit/>
          </a:bodyPr>
          <a:lstStyle/>
          <a:p>
            <a:pPr algn="ctr"/>
            <a:r>
              <a:rPr sz="1600" b="0">
                <a:solidFill>
                  <a:srgbClr val="C0CCE0"/>
                </a:solidFill>
                <a:latin typeface="Calibri"/>
              </a:rPr>
              <a:t>Neenu Bonny + team  ·  IE 5373 Applied Generative AI</a:t>
            </a:r>
          </a:p>
        </p:txBody>
      </p:sp>
      <p:sp>
        <p:nvSpPr>
          <p:cNvPr id="7" name="TextBox 6"/>
          <p:cNvSpPr txBox="1"/>
          <p:nvPr/>
        </p:nvSpPr>
        <p:spPr>
          <a:xfrm>
            <a:off x="457200" y="5486400"/>
            <a:ext cx="11247120" cy="457200"/>
          </a:xfrm>
          <a:prstGeom prst="rect">
            <a:avLst/>
          </a:prstGeom>
          <a:noFill/>
        </p:spPr>
        <p:txBody>
          <a:bodyPr wrap="square" lIns="45720" rIns="45720">
            <a:spAutoFit/>
          </a:bodyPr>
          <a:lstStyle/>
          <a:p>
            <a:pPr algn="ctr"/>
            <a:r>
              <a:rPr sz="1400" b="0">
                <a:solidFill>
                  <a:srgbClr val="C0CCE0"/>
                </a:solidFill>
                <a:latin typeface="Calibri"/>
              </a:rPr>
              <a:t>Prof. Mohammad Dehghani  ·  Northeastern University</a:t>
            </a:r>
          </a:p>
        </p:txBody>
      </p:sp>
      <p:sp>
        <p:nvSpPr>
          <p:cNvPr id="8" name="TextBox 7"/>
          <p:cNvSpPr txBox="1"/>
          <p:nvPr/>
        </p:nvSpPr>
        <p:spPr>
          <a:xfrm>
            <a:off x="457200" y="6126480"/>
            <a:ext cx="11247120" cy="365760"/>
          </a:xfrm>
          <a:prstGeom prst="rect">
            <a:avLst/>
          </a:prstGeom>
          <a:noFill/>
        </p:spPr>
        <p:txBody>
          <a:bodyPr wrap="square">
            <a:spAutoFit/>
          </a:bodyPr>
          <a:lstStyle/>
          <a:p>
            <a:pPr algn="ctr"/>
            <a:r>
              <a:rPr sz="1200" b="0">
                <a:solidFill>
                  <a:srgbClr val="A0B0D0"/>
                </a:solidFill>
                <a:latin typeface="Calibri"/>
                <a:hlinkClick r:id="rId2"/>
              </a:rPr>
              <a:t>github.com/Neenu1234/WorldCupGenAI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365760"/>
          </a:xfrm>
          <a:prstGeom prst="rect">
            <a:avLst/>
          </a:prstGeom>
          <a:noFill/>
        </p:spPr>
        <p:txBody>
          <a:bodyPr wrap="square" lIns="45720" rIns="45720">
            <a:spAutoFit/>
          </a:bodyPr>
          <a:lstStyle/>
          <a:p>
            <a:pPr algn="l"/>
            <a:r>
              <a:rPr sz="2000" b="1">
                <a:solidFill>
                  <a:srgbClr val="FFFFFF"/>
                </a:solidFill>
                <a:latin typeface="Calibri"/>
              </a:rPr>
              <a:t>1.  The Problem</a:t>
            </a:r>
          </a:p>
        </p:txBody>
      </p:sp>
      <p:sp>
        <p:nvSpPr>
          <p:cNvPr id="4" name="TextBox 3"/>
          <p:cNvSpPr txBox="1"/>
          <p:nvPr/>
        </p:nvSpPr>
        <p:spPr>
          <a:xfrm>
            <a:off x="457200" y="640080"/>
            <a:ext cx="10972800" cy="365760"/>
          </a:xfrm>
          <a:prstGeom prst="rect">
            <a:avLst/>
          </a:prstGeom>
          <a:noFill/>
        </p:spPr>
        <p:txBody>
          <a:bodyPr wrap="square" lIns="45720" rIns="45720">
            <a:spAutoFit/>
          </a:bodyPr>
          <a:lstStyle/>
          <a:p>
            <a:pPr algn="l"/>
            <a:r>
              <a:rPr sz="1300" b="0">
                <a:solidFill>
                  <a:srgbClr val="666666"/>
                </a:solidFill>
                <a:latin typeface="Calibri"/>
              </a:rPr>
              <a:t>What Track 1 asks us to build</a:t>
            </a:r>
          </a:p>
        </p:txBody>
      </p:sp>
      <p:sp>
        <p:nvSpPr>
          <p:cNvPr id="5" name="TextBox 4"/>
          <p:cNvSpPr txBox="1"/>
          <p:nvPr/>
        </p:nvSpPr>
        <p:spPr>
          <a:xfrm>
            <a:off x="548640" y="1097280"/>
            <a:ext cx="11064240" cy="548640"/>
          </a:xfrm>
          <a:prstGeom prst="rect">
            <a:avLst/>
          </a:prstGeom>
          <a:noFill/>
        </p:spPr>
        <p:txBody>
          <a:bodyPr wrap="square" lIns="45720" rIns="45720">
            <a:spAutoFit/>
          </a:bodyPr>
          <a:lstStyle/>
          <a:p>
            <a:pPr algn="l"/>
            <a:r>
              <a:rPr sz="2200" b="1">
                <a:solidFill>
                  <a:srgbClr val="222222"/>
                </a:solidFill>
                <a:latin typeface="Calibri"/>
              </a:rPr>
              <a:t>A conversational chatbot that does THREE things:</a:t>
            </a:r>
          </a:p>
        </p:txBody>
      </p:sp>
      <p:sp>
        <p:nvSpPr>
          <p:cNvPr id="6" name="Rectangle 5"/>
          <p:cNvSpPr/>
          <p:nvPr/>
        </p:nvSpPr>
        <p:spPr>
          <a:xfrm>
            <a:off x="548640" y="2011680"/>
            <a:ext cx="731520" cy="731520"/>
          </a:xfrm>
          <a:prstGeom prst="rect">
            <a:avLst/>
          </a:prstGeom>
          <a:solidFill>
            <a:srgbClr val="005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03120"/>
            <a:ext cx="731520" cy="548640"/>
          </a:xfrm>
          <a:prstGeom prst="rect">
            <a:avLst/>
          </a:prstGeom>
          <a:noFill/>
        </p:spPr>
        <p:txBody>
          <a:bodyPr wrap="square" lIns="45720" rIns="45720">
            <a:spAutoFit/>
          </a:bodyPr>
          <a:lstStyle/>
          <a:p>
            <a:pPr algn="ctr"/>
            <a:r>
              <a:rPr sz="3200" b="1">
                <a:solidFill>
                  <a:srgbClr val="FFFFFF"/>
                </a:solidFill>
                <a:latin typeface="Calibri"/>
              </a:rPr>
              <a:t>1</a:t>
            </a:r>
          </a:p>
        </p:txBody>
      </p:sp>
      <p:sp>
        <p:nvSpPr>
          <p:cNvPr id="8" name="TextBox 7"/>
          <p:cNvSpPr txBox="1"/>
          <p:nvPr/>
        </p:nvSpPr>
        <p:spPr>
          <a:xfrm>
            <a:off x="1554480" y="2011680"/>
            <a:ext cx="10058400" cy="457200"/>
          </a:xfrm>
          <a:prstGeom prst="rect">
            <a:avLst/>
          </a:prstGeom>
          <a:noFill/>
        </p:spPr>
        <p:txBody>
          <a:bodyPr wrap="square" lIns="45720" rIns="45720">
            <a:spAutoFit/>
          </a:bodyPr>
          <a:lstStyle/>
          <a:p>
            <a:pPr algn="l"/>
            <a:r>
              <a:rPr sz="2200" b="1">
                <a:solidFill>
                  <a:srgbClr val="1E4B8F"/>
                </a:solidFill>
                <a:latin typeface="Calibri"/>
              </a:rPr>
              <a:t>History Q&amp;A</a:t>
            </a:r>
          </a:p>
        </p:txBody>
      </p:sp>
      <p:sp>
        <p:nvSpPr>
          <p:cNvPr id="9" name="TextBox 8"/>
          <p:cNvSpPr txBox="1"/>
          <p:nvPr/>
        </p:nvSpPr>
        <p:spPr>
          <a:xfrm>
            <a:off x="1554480" y="2468880"/>
            <a:ext cx="10058400" cy="457200"/>
          </a:xfrm>
          <a:prstGeom prst="rect">
            <a:avLst/>
          </a:prstGeom>
          <a:noFill/>
        </p:spPr>
        <p:txBody>
          <a:bodyPr wrap="square" lIns="45720" rIns="45720">
            <a:spAutoFit/>
          </a:bodyPr>
          <a:lstStyle/>
          <a:p>
            <a:pPr algn="l"/>
            <a:r>
              <a:rPr sz="1600" b="0">
                <a:solidFill>
                  <a:srgbClr val="222222"/>
                </a:solidFill>
                <a:latin typeface="Calibri"/>
              </a:rPr>
              <a:t>Answer natural language questions about past World Cup matches</a:t>
            </a:r>
          </a:p>
        </p:txBody>
      </p:sp>
      <p:sp>
        <p:nvSpPr>
          <p:cNvPr id="10" name="Rectangle 9"/>
          <p:cNvSpPr/>
          <p:nvPr/>
        </p:nvSpPr>
        <p:spPr>
          <a:xfrm>
            <a:off x="548640" y="3291840"/>
            <a:ext cx="731520" cy="731520"/>
          </a:xfrm>
          <a:prstGeom prst="rect">
            <a:avLst/>
          </a:prstGeom>
          <a:solidFill>
            <a:srgbClr val="005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383280"/>
            <a:ext cx="731520" cy="548640"/>
          </a:xfrm>
          <a:prstGeom prst="rect">
            <a:avLst/>
          </a:prstGeom>
          <a:noFill/>
        </p:spPr>
        <p:txBody>
          <a:bodyPr wrap="square" lIns="45720" rIns="45720">
            <a:spAutoFit/>
          </a:bodyPr>
          <a:lstStyle/>
          <a:p>
            <a:pPr algn="ctr"/>
            <a:r>
              <a:rPr sz="3200" b="1">
                <a:solidFill>
                  <a:srgbClr val="FFFFFF"/>
                </a:solidFill>
                <a:latin typeface="Calibri"/>
              </a:rPr>
              <a:t>2</a:t>
            </a:r>
          </a:p>
        </p:txBody>
      </p:sp>
      <p:sp>
        <p:nvSpPr>
          <p:cNvPr id="12" name="TextBox 11"/>
          <p:cNvSpPr txBox="1"/>
          <p:nvPr/>
        </p:nvSpPr>
        <p:spPr>
          <a:xfrm>
            <a:off x="1554480" y="3291840"/>
            <a:ext cx="10058400" cy="457200"/>
          </a:xfrm>
          <a:prstGeom prst="rect">
            <a:avLst/>
          </a:prstGeom>
          <a:noFill/>
        </p:spPr>
        <p:txBody>
          <a:bodyPr wrap="square" lIns="45720" rIns="45720">
            <a:spAutoFit/>
          </a:bodyPr>
          <a:lstStyle/>
          <a:p>
            <a:pPr algn="l"/>
            <a:r>
              <a:rPr sz="2200" b="1">
                <a:solidFill>
                  <a:srgbClr val="1E4B8F"/>
                </a:solidFill>
                <a:latin typeface="Calibri"/>
              </a:rPr>
              <a:t>Team statistics</a:t>
            </a:r>
          </a:p>
        </p:txBody>
      </p:sp>
      <p:sp>
        <p:nvSpPr>
          <p:cNvPr id="13" name="TextBox 12"/>
          <p:cNvSpPr txBox="1"/>
          <p:nvPr/>
        </p:nvSpPr>
        <p:spPr>
          <a:xfrm>
            <a:off x="1554480" y="3749040"/>
            <a:ext cx="10058400" cy="457200"/>
          </a:xfrm>
          <a:prstGeom prst="rect">
            <a:avLst/>
          </a:prstGeom>
          <a:noFill/>
        </p:spPr>
        <p:txBody>
          <a:bodyPr wrap="square" lIns="45720" rIns="45720">
            <a:spAutoFit/>
          </a:bodyPr>
          <a:lstStyle/>
          <a:p>
            <a:pPr algn="l"/>
            <a:r>
              <a:rPr sz="1600" b="0">
                <a:solidFill>
                  <a:srgbClr val="222222"/>
                </a:solidFill>
                <a:latin typeface="Calibri"/>
              </a:rPr>
              <a:t>Look up titles, win rate, top scorers for any national team</a:t>
            </a:r>
          </a:p>
        </p:txBody>
      </p:sp>
      <p:sp>
        <p:nvSpPr>
          <p:cNvPr id="14" name="Rectangle 13"/>
          <p:cNvSpPr/>
          <p:nvPr/>
        </p:nvSpPr>
        <p:spPr>
          <a:xfrm>
            <a:off x="548640" y="4572000"/>
            <a:ext cx="731520" cy="731520"/>
          </a:xfrm>
          <a:prstGeom prst="rect">
            <a:avLst/>
          </a:prstGeom>
          <a:solidFill>
            <a:srgbClr val="005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663440"/>
            <a:ext cx="731520" cy="548640"/>
          </a:xfrm>
          <a:prstGeom prst="rect">
            <a:avLst/>
          </a:prstGeom>
          <a:noFill/>
        </p:spPr>
        <p:txBody>
          <a:bodyPr wrap="square" lIns="45720" rIns="45720">
            <a:spAutoFit/>
          </a:bodyPr>
          <a:lstStyle/>
          <a:p>
            <a:pPr algn="ctr"/>
            <a:r>
              <a:rPr sz="3200" b="1">
                <a:solidFill>
                  <a:srgbClr val="FFFFFF"/>
                </a:solidFill>
                <a:latin typeface="Calibri"/>
              </a:rPr>
              <a:t>3</a:t>
            </a:r>
          </a:p>
        </p:txBody>
      </p:sp>
      <p:sp>
        <p:nvSpPr>
          <p:cNvPr id="16" name="TextBox 15"/>
          <p:cNvSpPr txBox="1"/>
          <p:nvPr/>
        </p:nvSpPr>
        <p:spPr>
          <a:xfrm>
            <a:off x="1554480" y="4572000"/>
            <a:ext cx="10058400" cy="457200"/>
          </a:xfrm>
          <a:prstGeom prst="rect">
            <a:avLst/>
          </a:prstGeom>
          <a:noFill/>
        </p:spPr>
        <p:txBody>
          <a:bodyPr wrap="square" lIns="45720" rIns="45720">
            <a:spAutoFit/>
          </a:bodyPr>
          <a:lstStyle/>
          <a:p>
            <a:pPr algn="l"/>
            <a:r>
              <a:rPr sz="2200" b="1">
                <a:solidFill>
                  <a:srgbClr val="1E4B8F"/>
                </a:solidFill>
                <a:latin typeface="Calibri"/>
              </a:rPr>
              <a:t>Match predictions</a:t>
            </a:r>
          </a:p>
        </p:txBody>
      </p:sp>
      <p:sp>
        <p:nvSpPr>
          <p:cNvPr id="17" name="TextBox 16"/>
          <p:cNvSpPr txBox="1"/>
          <p:nvPr/>
        </p:nvSpPr>
        <p:spPr>
          <a:xfrm>
            <a:off x="1554480" y="5029200"/>
            <a:ext cx="10058400" cy="457200"/>
          </a:xfrm>
          <a:prstGeom prst="rect">
            <a:avLst/>
          </a:prstGeom>
          <a:noFill/>
        </p:spPr>
        <p:txBody>
          <a:bodyPr wrap="square" lIns="45720" rIns="45720">
            <a:spAutoFit/>
          </a:bodyPr>
          <a:lstStyle/>
          <a:p>
            <a:pPr algn="l"/>
            <a:r>
              <a:rPr sz="1600" b="0">
                <a:solidFill>
                  <a:srgbClr val="222222"/>
                </a:solidFill>
                <a:latin typeface="Calibri"/>
              </a:rPr>
              <a:t>Generate a preview and predicted outcome for any two teams</a:t>
            </a:r>
          </a:p>
        </p:txBody>
      </p:sp>
      <p:sp>
        <p:nvSpPr>
          <p:cNvPr id="18" name="TextBox 17"/>
          <p:cNvSpPr txBox="1"/>
          <p:nvPr/>
        </p:nvSpPr>
        <p:spPr>
          <a:xfrm>
            <a:off x="548640" y="6035040"/>
            <a:ext cx="11064240" cy="457200"/>
          </a:xfrm>
          <a:prstGeom prst="rect">
            <a:avLst/>
          </a:prstGeom>
          <a:noFill/>
        </p:spPr>
        <p:txBody>
          <a:bodyPr wrap="square" lIns="45720" rIns="45720">
            <a:spAutoFit/>
          </a:bodyPr>
          <a:lstStyle/>
          <a:p>
            <a:pPr algn="l"/>
            <a:r>
              <a:rPr sz="1600" b="1">
                <a:solidFill>
                  <a:srgbClr val="E53935"/>
                </a:solidFill>
                <a:latin typeface="Calibri"/>
              </a:rPr>
              <a:t>Our answer: a single ReAct agent with 4 tools, conversation memory, and a custom Streamlit UI.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365760"/>
          </a:xfrm>
          <a:prstGeom prst="rect">
            <a:avLst/>
          </a:prstGeom>
          <a:noFill/>
        </p:spPr>
        <p:txBody>
          <a:bodyPr wrap="square" lIns="45720" rIns="45720">
            <a:spAutoFit/>
          </a:bodyPr>
          <a:lstStyle/>
          <a:p>
            <a:pPr algn="l"/>
            <a:r>
              <a:rPr sz="2000" b="1">
                <a:solidFill>
                  <a:srgbClr val="FFFFFF"/>
                </a:solidFill>
                <a:latin typeface="Calibri"/>
              </a:rPr>
              <a:t>2.  Architecture</a:t>
            </a:r>
          </a:p>
        </p:txBody>
      </p:sp>
      <p:sp>
        <p:nvSpPr>
          <p:cNvPr id="4" name="TextBox 3"/>
          <p:cNvSpPr txBox="1"/>
          <p:nvPr/>
        </p:nvSpPr>
        <p:spPr>
          <a:xfrm>
            <a:off x="457200" y="640080"/>
            <a:ext cx="10972800" cy="365760"/>
          </a:xfrm>
          <a:prstGeom prst="rect">
            <a:avLst/>
          </a:prstGeom>
          <a:noFill/>
        </p:spPr>
        <p:txBody>
          <a:bodyPr wrap="square" lIns="45720" rIns="45720">
            <a:spAutoFit/>
          </a:bodyPr>
          <a:lstStyle/>
          <a:p>
            <a:pPr algn="l"/>
            <a:r>
              <a:rPr sz="1300" b="0">
                <a:solidFill>
                  <a:srgbClr val="666666"/>
                </a:solidFill>
                <a:latin typeface="Calibri"/>
              </a:rPr>
              <a:t>ReAct agent + 4 tools + 2 memory layers + Streamlit UI</a:t>
            </a:r>
          </a:p>
        </p:txBody>
      </p:sp>
      <p:sp>
        <p:nvSpPr>
          <p:cNvPr id="5" name="Rectangle 4"/>
          <p:cNvSpPr/>
          <p:nvPr/>
        </p:nvSpPr>
        <p:spPr>
          <a:xfrm>
            <a:off x="1371600" y="1280160"/>
            <a:ext cx="9418320" cy="685800"/>
          </a:xfrm>
          <a:prstGeom prst="rect">
            <a:avLst/>
          </a:prstGeom>
          <a:solidFill>
            <a:srgbClr val="005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417320"/>
            <a:ext cx="9418320" cy="457200"/>
          </a:xfrm>
          <a:prstGeom prst="rect">
            <a:avLst/>
          </a:prstGeom>
          <a:noFill/>
        </p:spPr>
        <p:txBody>
          <a:bodyPr wrap="square" lIns="45720" rIns="45720">
            <a:spAutoFit/>
          </a:bodyPr>
          <a:lstStyle/>
          <a:p>
            <a:pPr algn="ctr"/>
            <a:r>
              <a:rPr sz="1600" b="1">
                <a:solidFill>
                  <a:srgbClr val="FFFFFF"/>
                </a:solidFill>
                <a:latin typeface="Calibri"/>
              </a:rPr>
              <a:t>User question</a:t>
            </a:r>
          </a:p>
        </p:txBody>
      </p:sp>
      <p:sp>
        <p:nvSpPr>
          <p:cNvPr id="7" name="Down Arrow 6"/>
          <p:cNvSpPr/>
          <p:nvPr/>
        </p:nvSpPr>
        <p:spPr>
          <a:xfrm>
            <a:off x="5852160" y="1993392"/>
            <a:ext cx="457200" cy="246888"/>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2240280"/>
            <a:ext cx="9418320" cy="68580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377440"/>
            <a:ext cx="9418320" cy="457200"/>
          </a:xfrm>
          <a:prstGeom prst="rect">
            <a:avLst/>
          </a:prstGeom>
          <a:noFill/>
        </p:spPr>
        <p:txBody>
          <a:bodyPr wrap="square" lIns="45720" rIns="45720">
            <a:spAutoFit/>
          </a:bodyPr>
          <a:lstStyle/>
          <a:p>
            <a:pPr algn="ctr"/>
            <a:r>
              <a:rPr sz="1600" b="1">
                <a:solidFill>
                  <a:srgbClr val="FFFFFF"/>
                </a:solidFill>
                <a:latin typeface="Calibri"/>
              </a:rPr>
              <a:t>ReAct Agent (gpt-4o)  +  ConversationBufferMemory  +  UserPreferences</a:t>
            </a:r>
          </a:p>
        </p:txBody>
      </p:sp>
      <p:sp>
        <p:nvSpPr>
          <p:cNvPr id="10" name="Down Arrow 9"/>
          <p:cNvSpPr/>
          <p:nvPr/>
        </p:nvSpPr>
        <p:spPr>
          <a:xfrm>
            <a:off x="5852160" y="2953512"/>
            <a:ext cx="457200" cy="246888"/>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71600" y="3200400"/>
            <a:ext cx="9418320" cy="6858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3337560"/>
            <a:ext cx="9418320" cy="457200"/>
          </a:xfrm>
          <a:prstGeom prst="rect">
            <a:avLst/>
          </a:prstGeom>
          <a:noFill/>
        </p:spPr>
        <p:txBody>
          <a:bodyPr wrap="square" lIns="45720" rIns="45720">
            <a:spAutoFit/>
          </a:bodyPr>
          <a:lstStyle/>
          <a:p>
            <a:pPr algn="ctr"/>
            <a:r>
              <a:rPr sz="1600" b="1">
                <a:solidFill>
                  <a:srgbClr val="FFFFFF"/>
                </a:solidFill>
                <a:latin typeface="Calibri"/>
              </a:rPr>
              <a:t>4 Tools:  WorldCupRAG  |  MatchPredictor  |  TeamStats  |  MatchGoals</a:t>
            </a:r>
          </a:p>
        </p:txBody>
      </p:sp>
      <p:sp>
        <p:nvSpPr>
          <p:cNvPr id="13" name="Down Arrow 12"/>
          <p:cNvSpPr/>
          <p:nvPr/>
        </p:nvSpPr>
        <p:spPr>
          <a:xfrm>
            <a:off x="5852160" y="3913632"/>
            <a:ext cx="457200" cy="246888"/>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371600" y="4160520"/>
            <a:ext cx="9418320" cy="685800"/>
          </a:xfrm>
          <a:prstGeom prst="rect">
            <a:avLst/>
          </a:prstGeom>
          <a:solidFill>
            <a:srgbClr val="005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4297680"/>
            <a:ext cx="9418320" cy="457200"/>
          </a:xfrm>
          <a:prstGeom prst="rect">
            <a:avLst/>
          </a:prstGeom>
          <a:noFill/>
        </p:spPr>
        <p:txBody>
          <a:bodyPr wrap="square" lIns="45720" rIns="45720">
            <a:spAutoFit/>
          </a:bodyPr>
          <a:lstStyle/>
          <a:p>
            <a:pPr algn="ctr"/>
            <a:r>
              <a:rPr sz="1600" b="1">
                <a:solidFill>
                  <a:srgbClr val="FFFFFF"/>
                </a:solidFill>
                <a:latin typeface="Calibri"/>
              </a:rPr>
              <a:t>Final answer (with cited evidence + limitations)</a:t>
            </a:r>
          </a:p>
        </p:txBody>
      </p:sp>
      <p:sp>
        <p:nvSpPr>
          <p:cNvPr id="16" name="Down Arrow 15"/>
          <p:cNvSpPr/>
          <p:nvPr/>
        </p:nvSpPr>
        <p:spPr>
          <a:xfrm>
            <a:off x="5852160" y="4873752"/>
            <a:ext cx="457200" cy="246888"/>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371600" y="5120640"/>
            <a:ext cx="9418320" cy="68580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5257800"/>
            <a:ext cx="9418320" cy="457200"/>
          </a:xfrm>
          <a:prstGeom prst="rect">
            <a:avLst/>
          </a:prstGeom>
          <a:noFill/>
        </p:spPr>
        <p:txBody>
          <a:bodyPr wrap="square" lIns="45720" rIns="45720">
            <a:spAutoFit/>
          </a:bodyPr>
          <a:lstStyle/>
          <a:p>
            <a:pPr algn="ctr"/>
            <a:r>
              <a:rPr sz="1600" b="1">
                <a:solidFill>
                  <a:srgbClr val="FFFFFF"/>
                </a:solidFill>
                <a:latin typeface="Calibri"/>
              </a:rPr>
              <a:t>Streamlit chat UI (live reasoning trace + 5 chart types)</a:t>
            </a:r>
          </a:p>
        </p:txBody>
      </p:sp>
      <p:sp>
        <p:nvSpPr>
          <p:cNvPr id="19" name="TextBox 18"/>
          <p:cNvSpPr txBox="1"/>
          <p:nvPr/>
        </p:nvSpPr>
        <p:spPr>
          <a:xfrm>
            <a:off x="548640" y="6400800"/>
            <a:ext cx="11064240" cy="365760"/>
          </a:xfrm>
          <a:prstGeom prst="rect">
            <a:avLst/>
          </a:prstGeom>
          <a:noFill/>
        </p:spPr>
        <p:txBody>
          <a:bodyPr wrap="square" lIns="45720" rIns="45720">
            <a:spAutoFit/>
          </a:bodyPr>
          <a:lstStyle/>
          <a:p>
            <a:pPr algn="ctr"/>
            <a:r>
              <a:rPr sz="1400" b="0">
                <a:solidFill>
                  <a:srgbClr val="666666"/>
                </a:solidFill>
                <a:latin typeface="Calibri"/>
              </a:rPr>
              <a:t>Built end to end in one notebook + reproducible Streamlit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365760"/>
          </a:xfrm>
          <a:prstGeom prst="rect">
            <a:avLst/>
          </a:prstGeom>
          <a:noFill/>
        </p:spPr>
        <p:txBody>
          <a:bodyPr wrap="square" lIns="45720" rIns="45720">
            <a:spAutoFit/>
          </a:bodyPr>
          <a:lstStyle/>
          <a:p>
            <a:pPr algn="l"/>
            <a:r>
              <a:rPr sz="2000" b="1">
                <a:solidFill>
                  <a:srgbClr val="FFFFFF"/>
                </a:solidFill>
                <a:latin typeface="Calibri"/>
              </a:rPr>
              <a:t>3.  Data &amp; Reproducibility</a:t>
            </a:r>
          </a:p>
        </p:txBody>
      </p:sp>
      <p:sp>
        <p:nvSpPr>
          <p:cNvPr id="4" name="TextBox 3"/>
          <p:cNvSpPr txBox="1"/>
          <p:nvPr/>
        </p:nvSpPr>
        <p:spPr>
          <a:xfrm>
            <a:off x="457200" y="640080"/>
            <a:ext cx="10972800" cy="365760"/>
          </a:xfrm>
          <a:prstGeom prst="rect">
            <a:avLst/>
          </a:prstGeom>
          <a:noFill/>
        </p:spPr>
        <p:txBody>
          <a:bodyPr wrap="square" lIns="45720" rIns="45720">
            <a:spAutoFit/>
          </a:bodyPr>
          <a:lstStyle/>
          <a:p>
            <a:pPr algn="l"/>
            <a:r>
              <a:rPr sz="1300" b="0">
                <a:solidFill>
                  <a:srgbClr val="666666"/>
                </a:solidFill>
                <a:latin typeface="Calibri"/>
              </a:rPr>
              <a:t>Public, cited, cached, validated</a:t>
            </a:r>
          </a:p>
        </p:txBody>
      </p:sp>
      <p:sp>
        <p:nvSpPr>
          <p:cNvPr id="5" name="TextBox 4"/>
          <p:cNvSpPr txBox="1"/>
          <p:nvPr/>
        </p:nvSpPr>
        <p:spPr>
          <a:xfrm>
            <a:off x="548640" y="1005840"/>
            <a:ext cx="11064240" cy="457200"/>
          </a:xfrm>
          <a:prstGeom prst="rect">
            <a:avLst/>
          </a:prstGeom>
          <a:noFill/>
        </p:spPr>
        <p:txBody>
          <a:bodyPr wrap="square" lIns="45720" rIns="45720">
            <a:spAutoFit/>
          </a:bodyPr>
          <a:lstStyle/>
          <a:p>
            <a:pPr algn="l"/>
            <a:r>
              <a:rPr sz="1800" b="1">
                <a:solidFill>
                  <a:srgbClr val="1E4B8F"/>
                </a:solidFill>
                <a:latin typeface="Calibri"/>
              </a:rPr>
              <a:t>Dataset:  martj42  ·  International Football Results 1872 to Present</a:t>
            </a:r>
          </a:p>
        </p:txBody>
      </p:sp>
      <p:sp>
        <p:nvSpPr>
          <p:cNvPr id="6" name="TextBox 5"/>
          <p:cNvSpPr txBox="1"/>
          <p:nvPr/>
        </p:nvSpPr>
        <p:spPr>
          <a:xfrm>
            <a:off x="548640" y="1463040"/>
            <a:ext cx="11064240" cy="365760"/>
          </a:xfrm>
          <a:prstGeom prst="rect">
            <a:avLst/>
          </a:prstGeom>
          <a:noFill/>
        </p:spPr>
        <p:txBody>
          <a:bodyPr wrap="square" lIns="45720" rIns="45720">
            <a:spAutoFit/>
          </a:bodyPr>
          <a:lstStyle/>
          <a:p>
            <a:pPr algn="l"/>
            <a:r>
              <a:rPr sz="1300" b="0">
                <a:solidFill>
                  <a:srgbClr val="0055D4"/>
                </a:solidFill>
                <a:latin typeface="Calibri"/>
              </a:rPr>
              <a:t>kaggle.com/datasets/martj42/international-football-results-from-1872-to-2017</a:t>
            </a:r>
          </a:p>
        </p:txBody>
      </p:sp>
      <p:sp>
        <p:nvSpPr>
          <p:cNvPr id="7" name="Rectangle 6"/>
          <p:cNvSpPr/>
          <p:nvPr/>
        </p:nvSpPr>
        <p:spPr>
          <a:xfrm>
            <a:off x="548640" y="2103120"/>
            <a:ext cx="5486400" cy="2103120"/>
          </a:xfrm>
          <a:prstGeom prst="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94560"/>
            <a:ext cx="5120640" cy="365760"/>
          </a:xfrm>
          <a:prstGeom prst="rect">
            <a:avLst/>
          </a:prstGeom>
          <a:noFill/>
        </p:spPr>
        <p:txBody>
          <a:bodyPr wrap="square" lIns="45720" rIns="45720">
            <a:spAutoFit/>
          </a:bodyPr>
          <a:lstStyle/>
          <a:p>
            <a:pPr algn="l"/>
            <a:r>
              <a:rPr sz="1500" b="1">
                <a:solidFill>
                  <a:srgbClr val="1E4B8F"/>
                </a:solidFill>
                <a:latin typeface="Calibri"/>
              </a:rPr>
              <a:t>What we loaded</a:t>
            </a:r>
          </a:p>
        </p:txBody>
      </p:sp>
      <p:sp>
        <p:nvSpPr>
          <p:cNvPr id="9" name="TextBox 8"/>
          <p:cNvSpPr txBox="1"/>
          <p:nvPr/>
        </p:nvSpPr>
        <p:spPr>
          <a:xfrm>
            <a:off x="731520" y="2560320"/>
            <a:ext cx="5120640" cy="1645920"/>
          </a:xfrm>
          <a:prstGeom prst="rect">
            <a:avLst/>
          </a:prstGeom>
          <a:noFill/>
        </p:spPr>
        <p:txBody>
          <a:bodyPr wrap="square">
            <a:spAutoFit/>
          </a:bodyPr>
          <a:lstStyle/>
          <a:p>
            <a:pPr algn="l">
              <a:spcAft>
                <a:spcPts val="800"/>
              </a:spcAft>
            </a:pPr>
            <a:r>
              <a:rPr sz="1300">
                <a:solidFill>
                  <a:srgbClr val="222222"/>
                </a:solidFill>
                <a:latin typeface="Calibri"/>
              </a:rPr>
              <a:t>•  49,281 international matches (1872 to 2026)</a:t>
            </a:r>
          </a:p>
          <a:p>
            <a:pPr algn="l">
              <a:spcAft>
                <a:spcPts val="800"/>
              </a:spcAft>
            </a:pPr>
            <a:r>
              <a:rPr sz="1300">
                <a:solidFill>
                  <a:srgbClr val="222222"/>
                </a:solidFill>
                <a:latin typeface="Calibri"/>
              </a:rPr>
              <a:t>•  964 World Cup matches filtered out for RAG</a:t>
            </a:r>
          </a:p>
          <a:p>
            <a:pPr algn="l">
              <a:spcAft>
                <a:spcPts val="800"/>
              </a:spcAft>
            </a:pPr>
            <a:r>
              <a:rPr sz="1300">
                <a:solidFill>
                  <a:srgbClr val="222222"/>
                </a:solidFill>
                <a:latin typeface="Calibri"/>
              </a:rPr>
              <a:t>•  Every goal from goalscorers.csv (~44K rows)</a:t>
            </a:r>
          </a:p>
          <a:p>
            <a:pPr algn="l">
              <a:spcAft>
                <a:spcPts val="800"/>
              </a:spcAft>
            </a:pPr>
            <a:r>
              <a:rPr sz="1300">
                <a:solidFill>
                  <a:srgbClr val="222222"/>
                </a:solidFill>
                <a:latin typeface="Calibri"/>
              </a:rPr>
              <a:t>•  Penalty shootout winners (resolves Italy 2006, Argentina 2022)</a:t>
            </a:r>
          </a:p>
        </p:txBody>
      </p:sp>
      <p:sp>
        <p:nvSpPr>
          <p:cNvPr id="10" name="Rectangle 9"/>
          <p:cNvSpPr/>
          <p:nvPr/>
        </p:nvSpPr>
        <p:spPr>
          <a:xfrm>
            <a:off x="6309360" y="2103120"/>
            <a:ext cx="5486400" cy="2103120"/>
          </a:xfrm>
          <a:prstGeom prst="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194560"/>
            <a:ext cx="5120640" cy="365760"/>
          </a:xfrm>
          <a:prstGeom prst="rect">
            <a:avLst/>
          </a:prstGeom>
          <a:noFill/>
        </p:spPr>
        <p:txBody>
          <a:bodyPr wrap="square" lIns="45720" rIns="45720">
            <a:spAutoFit/>
          </a:bodyPr>
          <a:lstStyle/>
          <a:p>
            <a:pPr algn="l"/>
            <a:r>
              <a:rPr sz="1500" b="1">
                <a:solidFill>
                  <a:srgbClr val="1E4B8F"/>
                </a:solidFill>
                <a:latin typeface="Calibri"/>
              </a:rPr>
              <a:t>How we validated</a:t>
            </a:r>
          </a:p>
        </p:txBody>
      </p:sp>
      <p:sp>
        <p:nvSpPr>
          <p:cNvPr id="12" name="TextBox 11"/>
          <p:cNvSpPr txBox="1"/>
          <p:nvPr/>
        </p:nvSpPr>
        <p:spPr>
          <a:xfrm>
            <a:off x="6492240" y="2560320"/>
            <a:ext cx="5120640" cy="1645920"/>
          </a:xfrm>
          <a:prstGeom prst="rect">
            <a:avLst/>
          </a:prstGeom>
          <a:noFill/>
        </p:spPr>
        <p:txBody>
          <a:bodyPr wrap="square">
            <a:spAutoFit/>
          </a:bodyPr>
          <a:lstStyle/>
          <a:p>
            <a:pPr algn="l">
              <a:spcAft>
                <a:spcPts val="800"/>
              </a:spcAft>
            </a:pPr>
            <a:r>
              <a:rPr sz="1300">
                <a:solidFill>
                  <a:srgbClr val="222222"/>
                </a:solidFill>
                <a:latin typeface="Calibri"/>
              </a:rPr>
              <a:t>•  Schema check (required columns must exist)</a:t>
            </a:r>
          </a:p>
          <a:p>
            <a:pPr algn="l">
              <a:spcAft>
                <a:spcPts val="800"/>
              </a:spcAft>
            </a:pPr>
            <a:r>
              <a:rPr sz="1300">
                <a:solidFill>
                  <a:srgbClr val="222222"/>
                </a:solidFill>
                <a:latin typeface="Calibri"/>
              </a:rPr>
              <a:t>•  Date parsing with errors='coerce'</a:t>
            </a:r>
          </a:p>
          <a:p>
            <a:pPr algn="l">
              <a:spcAft>
                <a:spcPts val="800"/>
              </a:spcAft>
            </a:pPr>
            <a:r>
              <a:rPr sz="1300">
                <a:solidFill>
                  <a:srgbClr val="222222"/>
                </a:solidFill>
                <a:latin typeface="Calibri"/>
              </a:rPr>
              <a:t>•  Score columns coerced to numeric, bad rows dropped</a:t>
            </a:r>
          </a:p>
          <a:p>
            <a:pPr algn="l">
              <a:spcAft>
                <a:spcPts val="800"/>
              </a:spcAft>
            </a:pPr>
            <a:r>
              <a:rPr sz="1300">
                <a:solidFill>
                  <a:srgbClr val="222222"/>
                </a:solidFill>
                <a:latin typeface="Calibri"/>
              </a:rPr>
              <a:t>•  Cross-reference shootouts.csv for tied finals</a:t>
            </a:r>
          </a:p>
        </p:txBody>
      </p:sp>
      <p:sp>
        <p:nvSpPr>
          <p:cNvPr id="13" name="TextBox 12"/>
          <p:cNvSpPr txBox="1"/>
          <p:nvPr/>
        </p:nvSpPr>
        <p:spPr>
          <a:xfrm>
            <a:off x="548640" y="4480560"/>
            <a:ext cx="11064240" cy="365760"/>
          </a:xfrm>
          <a:prstGeom prst="rect">
            <a:avLst/>
          </a:prstGeom>
          <a:noFill/>
        </p:spPr>
        <p:txBody>
          <a:bodyPr wrap="square" lIns="45720" rIns="45720">
            <a:spAutoFit/>
          </a:bodyPr>
          <a:lstStyle/>
          <a:p>
            <a:pPr algn="l"/>
            <a:r>
              <a:rPr sz="1500" b="1">
                <a:solidFill>
                  <a:srgbClr val="1E4B8F"/>
                </a:solidFill>
                <a:latin typeface="Calibri"/>
              </a:rPr>
              <a:t>Caching</a:t>
            </a:r>
          </a:p>
        </p:txBody>
      </p:sp>
      <p:sp>
        <p:nvSpPr>
          <p:cNvPr id="14" name="TextBox 13"/>
          <p:cNvSpPr txBox="1"/>
          <p:nvPr/>
        </p:nvSpPr>
        <p:spPr>
          <a:xfrm>
            <a:off x="731520" y="4846320"/>
            <a:ext cx="10972800" cy="1645920"/>
          </a:xfrm>
          <a:prstGeom prst="rect">
            <a:avLst/>
          </a:prstGeom>
          <a:noFill/>
        </p:spPr>
        <p:txBody>
          <a:bodyPr wrap="square">
            <a:spAutoFit/>
          </a:bodyPr>
          <a:lstStyle/>
          <a:p>
            <a:pPr algn="l">
              <a:spcAft>
                <a:spcPts val="800"/>
              </a:spcAft>
            </a:pPr>
            <a:r>
              <a:rPr sz="1400">
                <a:solidFill>
                  <a:srgbClr val="222222"/>
                </a:solidFill>
                <a:latin typeface="Calibri"/>
              </a:rPr>
              <a:t>•  Data files cached locally for full offline reproducibility (~7 MB)</a:t>
            </a:r>
          </a:p>
          <a:p>
            <a:pPr algn="l">
              <a:spcAft>
                <a:spcPts val="800"/>
              </a:spcAft>
            </a:pPr>
            <a:r>
              <a:rPr sz="1400">
                <a:solidFill>
                  <a:srgbClr val="222222"/>
                </a:solidFill>
                <a:latin typeface="Calibri"/>
              </a:rPr>
              <a:t>•  Chroma vector store persisted to disk, no re-embedding on each run</a:t>
            </a:r>
          </a:p>
          <a:p>
            <a:pPr algn="l">
              <a:spcAft>
                <a:spcPts val="800"/>
              </a:spcAft>
            </a:pPr>
            <a:r>
              <a:rPr sz="1400">
                <a:solidFill>
                  <a:srgbClr val="222222"/>
                </a:solidFill>
                <a:latin typeface="Calibri"/>
              </a:rPr>
              <a:t>•  Configuration centralized in src/config.py for clean setup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365760"/>
          </a:xfrm>
          <a:prstGeom prst="rect">
            <a:avLst/>
          </a:prstGeom>
          <a:noFill/>
        </p:spPr>
        <p:txBody>
          <a:bodyPr wrap="square" lIns="45720" rIns="45720">
            <a:spAutoFit/>
          </a:bodyPr>
          <a:lstStyle/>
          <a:p>
            <a:pPr algn="l"/>
            <a:r>
              <a:rPr sz="2000" b="1">
                <a:solidFill>
                  <a:srgbClr val="FFFFFF"/>
                </a:solidFill>
                <a:latin typeface="Calibri"/>
              </a:rPr>
              <a:t>4.  The 4 Tools</a:t>
            </a:r>
          </a:p>
        </p:txBody>
      </p:sp>
      <p:sp>
        <p:nvSpPr>
          <p:cNvPr id="4" name="TextBox 3"/>
          <p:cNvSpPr txBox="1"/>
          <p:nvPr/>
        </p:nvSpPr>
        <p:spPr>
          <a:xfrm>
            <a:off x="457200" y="640080"/>
            <a:ext cx="10972800" cy="365760"/>
          </a:xfrm>
          <a:prstGeom prst="rect">
            <a:avLst/>
          </a:prstGeom>
          <a:noFill/>
        </p:spPr>
        <p:txBody>
          <a:bodyPr wrap="square" lIns="45720" rIns="45720">
            <a:spAutoFit/>
          </a:bodyPr>
          <a:lstStyle/>
          <a:p>
            <a:pPr algn="l"/>
            <a:r>
              <a:rPr sz="1300" b="0">
                <a:solidFill>
                  <a:srgbClr val="666666"/>
                </a:solidFill>
                <a:latin typeface="Calibri"/>
              </a:rPr>
              <a:t>Each tool returns answer + evidence + limitations</a:t>
            </a:r>
          </a:p>
        </p:txBody>
      </p:sp>
      <p:sp>
        <p:nvSpPr>
          <p:cNvPr id="5" name="Rectangle 4"/>
          <p:cNvSpPr/>
          <p:nvPr/>
        </p:nvSpPr>
        <p:spPr>
          <a:xfrm>
            <a:off x="548640" y="1188720"/>
            <a:ext cx="5486400" cy="2423160"/>
          </a:xfrm>
          <a:prstGeom prst="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64592" cy="2423160"/>
          </a:xfrm>
          <a:prstGeom prst="rect">
            <a:avLst/>
          </a:prstGeom>
          <a:solidFill>
            <a:srgbClr val="005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280160"/>
            <a:ext cx="5120640" cy="457200"/>
          </a:xfrm>
          <a:prstGeom prst="rect">
            <a:avLst/>
          </a:prstGeom>
          <a:noFill/>
        </p:spPr>
        <p:txBody>
          <a:bodyPr wrap="square" lIns="45720" rIns="45720">
            <a:spAutoFit/>
          </a:bodyPr>
          <a:lstStyle/>
          <a:p>
            <a:pPr algn="l"/>
            <a:r>
              <a:rPr sz="2000" b="1">
                <a:solidFill>
                  <a:srgbClr val="0055D4"/>
                </a:solidFill>
                <a:latin typeface="Calibri"/>
              </a:rPr>
              <a:t>WorldCupRAG</a:t>
            </a:r>
          </a:p>
        </p:txBody>
      </p:sp>
      <p:sp>
        <p:nvSpPr>
          <p:cNvPr id="8" name="TextBox 7"/>
          <p:cNvSpPr txBox="1"/>
          <p:nvPr/>
        </p:nvSpPr>
        <p:spPr>
          <a:xfrm>
            <a:off x="822960" y="1691640"/>
            <a:ext cx="5120640" cy="365760"/>
          </a:xfrm>
          <a:prstGeom prst="rect">
            <a:avLst/>
          </a:prstGeom>
          <a:noFill/>
        </p:spPr>
        <p:txBody>
          <a:bodyPr wrap="square" lIns="45720" rIns="45720">
            <a:spAutoFit/>
          </a:bodyPr>
          <a:lstStyle/>
          <a:p>
            <a:pPr algn="l"/>
            <a:r>
              <a:rPr sz="1300" b="0">
                <a:solidFill>
                  <a:srgbClr val="666666"/>
                </a:solidFill>
                <a:latin typeface="Calibri"/>
              </a:rPr>
              <a:t>RAG over 964 World Cup match documents</a:t>
            </a:r>
          </a:p>
        </p:txBody>
      </p:sp>
      <p:sp>
        <p:nvSpPr>
          <p:cNvPr id="9" name="TextBox 8"/>
          <p:cNvSpPr txBox="1"/>
          <p:nvPr/>
        </p:nvSpPr>
        <p:spPr>
          <a:xfrm>
            <a:off x="822960" y="2103120"/>
            <a:ext cx="5120640" cy="1463040"/>
          </a:xfrm>
          <a:prstGeom prst="rect">
            <a:avLst/>
          </a:prstGeom>
          <a:noFill/>
        </p:spPr>
        <p:txBody>
          <a:bodyPr wrap="square">
            <a:spAutoFit/>
          </a:bodyPr>
          <a:lstStyle/>
          <a:p>
            <a:pPr algn="l">
              <a:spcAft>
                <a:spcPts val="800"/>
              </a:spcAft>
            </a:pPr>
            <a:r>
              <a:rPr sz="1200">
                <a:solidFill>
                  <a:srgbClr val="222222"/>
                </a:solidFill>
                <a:latin typeface="Calibri"/>
              </a:rPr>
              <a:t>•  Chroma vector search (k = 12)</a:t>
            </a:r>
          </a:p>
          <a:p>
            <a:pPr algn="l">
              <a:spcAft>
                <a:spcPts val="800"/>
              </a:spcAft>
            </a:pPr>
            <a:r>
              <a:rPr sz="1200">
                <a:solidFill>
                  <a:srgbClr val="222222"/>
                </a:solidFill>
                <a:latin typeface="Calibri"/>
              </a:rPr>
              <a:t>•  OpenAI text-embedding-3-small</a:t>
            </a:r>
          </a:p>
          <a:p>
            <a:pPr algn="l">
              <a:spcAft>
                <a:spcPts val="800"/>
              </a:spcAft>
            </a:pPr>
            <a:r>
              <a:rPr sz="1200">
                <a:solidFill>
                  <a:srgbClr val="222222"/>
                </a:solidFill>
                <a:latin typeface="Calibri"/>
              </a:rPr>
              <a:t>•  Cites match docs as evidence</a:t>
            </a:r>
          </a:p>
        </p:txBody>
      </p:sp>
      <p:sp>
        <p:nvSpPr>
          <p:cNvPr id="10" name="Rectangle 9"/>
          <p:cNvSpPr/>
          <p:nvPr/>
        </p:nvSpPr>
        <p:spPr>
          <a:xfrm>
            <a:off x="6309359" y="1188720"/>
            <a:ext cx="5486400" cy="2423160"/>
          </a:xfrm>
          <a:prstGeom prst="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59" y="1188720"/>
            <a:ext cx="164592" cy="242316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79" y="1280160"/>
            <a:ext cx="5120640" cy="457200"/>
          </a:xfrm>
          <a:prstGeom prst="rect">
            <a:avLst/>
          </a:prstGeom>
          <a:noFill/>
        </p:spPr>
        <p:txBody>
          <a:bodyPr wrap="square" lIns="45720" rIns="45720">
            <a:spAutoFit/>
          </a:bodyPr>
          <a:lstStyle/>
          <a:p>
            <a:pPr algn="l"/>
            <a:r>
              <a:rPr sz="2000" b="1">
                <a:solidFill>
                  <a:srgbClr val="1E4B8F"/>
                </a:solidFill>
                <a:latin typeface="Calibri"/>
              </a:rPr>
              <a:t>MatchPredictor</a:t>
            </a:r>
          </a:p>
        </p:txBody>
      </p:sp>
      <p:sp>
        <p:nvSpPr>
          <p:cNvPr id="13" name="TextBox 12"/>
          <p:cNvSpPr txBox="1"/>
          <p:nvPr/>
        </p:nvSpPr>
        <p:spPr>
          <a:xfrm>
            <a:off x="6583679" y="1691640"/>
            <a:ext cx="5120640" cy="365760"/>
          </a:xfrm>
          <a:prstGeom prst="rect">
            <a:avLst/>
          </a:prstGeom>
          <a:noFill/>
        </p:spPr>
        <p:txBody>
          <a:bodyPr wrap="square" lIns="45720" rIns="45720">
            <a:spAutoFit/>
          </a:bodyPr>
          <a:lstStyle/>
          <a:p>
            <a:pPr algn="l"/>
            <a:r>
              <a:rPr sz="1300" b="0">
                <a:solidFill>
                  <a:srgbClr val="666666"/>
                </a:solidFill>
                <a:latin typeface="Calibri"/>
              </a:rPr>
              <a:t>Head to head + recent form + LLM synthesis</a:t>
            </a:r>
          </a:p>
        </p:txBody>
      </p:sp>
      <p:sp>
        <p:nvSpPr>
          <p:cNvPr id="14" name="TextBox 13"/>
          <p:cNvSpPr txBox="1"/>
          <p:nvPr/>
        </p:nvSpPr>
        <p:spPr>
          <a:xfrm>
            <a:off x="6583679" y="2103120"/>
            <a:ext cx="5120640" cy="1463040"/>
          </a:xfrm>
          <a:prstGeom prst="rect">
            <a:avLst/>
          </a:prstGeom>
          <a:noFill/>
        </p:spPr>
        <p:txBody>
          <a:bodyPr wrap="square">
            <a:spAutoFit/>
          </a:bodyPr>
          <a:lstStyle/>
          <a:p>
            <a:pPr algn="l">
              <a:spcAft>
                <a:spcPts val="800"/>
              </a:spcAft>
            </a:pPr>
            <a:r>
              <a:rPr sz="1200">
                <a:solidFill>
                  <a:srgbClr val="222222"/>
                </a:solidFill>
                <a:latin typeface="Calibri"/>
              </a:rPr>
              <a:t>•  Pulls 10 most recent meetings</a:t>
            </a:r>
          </a:p>
          <a:p>
            <a:pPr algn="l">
              <a:spcAft>
                <a:spcPts val="800"/>
              </a:spcAft>
            </a:pPr>
            <a:r>
              <a:rPr sz="1200">
                <a:solidFill>
                  <a:srgbClr val="222222"/>
                </a:solidFill>
                <a:latin typeface="Calibri"/>
              </a:rPr>
              <a:t>•  Last 5 matches form per team</a:t>
            </a:r>
          </a:p>
          <a:p>
            <a:pPr algn="l">
              <a:spcAft>
                <a:spcPts val="800"/>
              </a:spcAft>
            </a:pPr>
            <a:r>
              <a:rPr sz="1200">
                <a:solidFill>
                  <a:srgbClr val="222222"/>
                </a:solidFill>
                <a:latin typeface="Calibri"/>
              </a:rPr>
              <a:t>•  Predicted score with reasoning</a:t>
            </a:r>
          </a:p>
        </p:txBody>
      </p:sp>
      <p:sp>
        <p:nvSpPr>
          <p:cNvPr id="15" name="Rectangle 14"/>
          <p:cNvSpPr/>
          <p:nvPr/>
        </p:nvSpPr>
        <p:spPr>
          <a:xfrm>
            <a:off x="548640" y="3794760"/>
            <a:ext cx="5486400" cy="2423160"/>
          </a:xfrm>
          <a:prstGeom prst="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794760"/>
            <a:ext cx="164592" cy="24231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886200"/>
            <a:ext cx="5120640" cy="457200"/>
          </a:xfrm>
          <a:prstGeom prst="rect">
            <a:avLst/>
          </a:prstGeom>
          <a:noFill/>
        </p:spPr>
        <p:txBody>
          <a:bodyPr wrap="square" lIns="45720" rIns="45720">
            <a:spAutoFit/>
          </a:bodyPr>
          <a:lstStyle/>
          <a:p>
            <a:pPr algn="l"/>
            <a:r>
              <a:rPr sz="2000" b="1">
                <a:solidFill>
                  <a:srgbClr val="2E7D32"/>
                </a:solidFill>
                <a:latin typeface="Calibri"/>
              </a:rPr>
              <a:t>TeamStats</a:t>
            </a:r>
          </a:p>
        </p:txBody>
      </p:sp>
      <p:sp>
        <p:nvSpPr>
          <p:cNvPr id="18" name="TextBox 17"/>
          <p:cNvSpPr txBox="1"/>
          <p:nvPr/>
        </p:nvSpPr>
        <p:spPr>
          <a:xfrm>
            <a:off x="822960" y="4297680"/>
            <a:ext cx="5120640" cy="365760"/>
          </a:xfrm>
          <a:prstGeom prst="rect">
            <a:avLst/>
          </a:prstGeom>
          <a:noFill/>
        </p:spPr>
        <p:txBody>
          <a:bodyPr wrap="square" lIns="45720" rIns="45720">
            <a:spAutoFit/>
          </a:bodyPr>
          <a:lstStyle/>
          <a:p>
            <a:pPr algn="l"/>
            <a:r>
              <a:rPr sz="1300" b="0">
                <a:solidFill>
                  <a:srgbClr val="666666"/>
                </a:solidFill>
                <a:latin typeface="Calibri"/>
              </a:rPr>
              <a:t>Structured stats lookup from pandas</a:t>
            </a:r>
          </a:p>
        </p:txBody>
      </p:sp>
      <p:sp>
        <p:nvSpPr>
          <p:cNvPr id="19" name="TextBox 18"/>
          <p:cNvSpPr txBox="1"/>
          <p:nvPr/>
        </p:nvSpPr>
        <p:spPr>
          <a:xfrm>
            <a:off x="822960" y="4709160"/>
            <a:ext cx="5120640" cy="1463040"/>
          </a:xfrm>
          <a:prstGeom prst="rect">
            <a:avLst/>
          </a:prstGeom>
          <a:noFill/>
        </p:spPr>
        <p:txBody>
          <a:bodyPr wrap="square">
            <a:spAutoFit/>
          </a:bodyPr>
          <a:lstStyle/>
          <a:p>
            <a:pPr algn="l">
              <a:spcAft>
                <a:spcPts val="800"/>
              </a:spcAft>
            </a:pPr>
            <a:r>
              <a:rPr sz="1200">
                <a:solidFill>
                  <a:srgbClr val="222222"/>
                </a:solidFill>
                <a:latin typeface="Calibri"/>
              </a:rPr>
              <a:t>•  Titles, win rate, top scorers</a:t>
            </a:r>
          </a:p>
          <a:p>
            <a:pPr algn="l">
              <a:spcAft>
                <a:spcPts val="800"/>
              </a:spcAft>
            </a:pPr>
            <a:r>
              <a:rPr sz="1200">
                <a:solidFill>
                  <a:srgbClr val="222222"/>
                </a:solidFill>
                <a:latin typeface="Calibri"/>
              </a:rPr>
              <a:t>•  Handles penalty shootout finals</a:t>
            </a:r>
          </a:p>
          <a:p>
            <a:pPr algn="l">
              <a:spcAft>
                <a:spcPts val="800"/>
              </a:spcAft>
            </a:pPr>
            <a:r>
              <a:rPr sz="1200">
                <a:solidFill>
                  <a:srgbClr val="222222"/>
                </a:solidFill>
                <a:latin typeface="Calibri"/>
              </a:rPr>
              <a:t>•  Pulls top scorers from goalscorers.csv</a:t>
            </a:r>
          </a:p>
        </p:txBody>
      </p:sp>
      <p:sp>
        <p:nvSpPr>
          <p:cNvPr id="20" name="Rectangle 19"/>
          <p:cNvSpPr/>
          <p:nvPr/>
        </p:nvSpPr>
        <p:spPr>
          <a:xfrm>
            <a:off x="6309359" y="3794760"/>
            <a:ext cx="5486400" cy="2423160"/>
          </a:xfrm>
          <a:prstGeom prst="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59" y="3794760"/>
            <a:ext cx="164592" cy="2423160"/>
          </a:xfrm>
          <a:prstGeom prst="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79" y="3886200"/>
            <a:ext cx="5120640" cy="457200"/>
          </a:xfrm>
          <a:prstGeom prst="rect">
            <a:avLst/>
          </a:prstGeom>
          <a:noFill/>
        </p:spPr>
        <p:txBody>
          <a:bodyPr wrap="square" lIns="45720" rIns="45720">
            <a:spAutoFit/>
          </a:bodyPr>
          <a:lstStyle/>
          <a:p>
            <a:pPr algn="l"/>
            <a:r>
              <a:rPr sz="2000" b="1">
                <a:solidFill>
                  <a:srgbClr val="E53935"/>
                </a:solidFill>
                <a:latin typeface="Calibri"/>
              </a:rPr>
              <a:t>MatchGoals</a:t>
            </a:r>
          </a:p>
        </p:txBody>
      </p:sp>
      <p:sp>
        <p:nvSpPr>
          <p:cNvPr id="23" name="TextBox 22"/>
          <p:cNvSpPr txBox="1"/>
          <p:nvPr/>
        </p:nvSpPr>
        <p:spPr>
          <a:xfrm>
            <a:off x="6583679" y="4297680"/>
            <a:ext cx="5120640" cy="365760"/>
          </a:xfrm>
          <a:prstGeom prst="rect">
            <a:avLst/>
          </a:prstGeom>
          <a:noFill/>
        </p:spPr>
        <p:txBody>
          <a:bodyPr wrap="square" lIns="45720" rIns="45720">
            <a:spAutoFit/>
          </a:bodyPr>
          <a:lstStyle/>
          <a:p>
            <a:pPr algn="l"/>
            <a:r>
              <a:rPr sz="1300" b="0">
                <a:solidFill>
                  <a:srgbClr val="666666"/>
                </a:solidFill>
                <a:latin typeface="Calibri"/>
              </a:rPr>
              <a:t>Goal by goal breakdown for one historical match</a:t>
            </a:r>
          </a:p>
        </p:txBody>
      </p:sp>
      <p:sp>
        <p:nvSpPr>
          <p:cNvPr id="24" name="TextBox 23"/>
          <p:cNvSpPr txBox="1"/>
          <p:nvPr/>
        </p:nvSpPr>
        <p:spPr>
          <a:xfrm>
            <a:off x="6583679" y="4709160"/>
            <a:ext cx="5120640" cy="1463040"/>
          </a:xfrm>
          <a:prstGeom prst="rect">
            <a:avLst/>
          </a:prstGeom>
          <a:noFill/>
        </p:spPr>
        <p:txBody>
          <a:bodyPr wrap="square">
            <a:spAutoFit/>
          </a:bodyPr>
          <a:lstStyle/>
          <a:p>
            <a:pPr algn="l">
              <a:spcAft>
                <a:spcPts val="800"/>
              </a:spcAft>
            </a:pPr>
            <a:r>
              <a:rPr sz="1200">
                <a:solidFill>
                  <a:srgbClr val="222222"/>
                </a:solidFill>
                <a:latin typeface="Calibri"/>
              </a:rPr>
              <a:t>•  Inputs: TeamA vs TeamB YYYY</a:t>
            </a:r>
          </a:p>
          <a:p>
            <a:pPr algn="l">
              <a:spcAft>
                <a:spcPts val="800"/>
              </a:spcAft>
            </a:pPr>
            <a:r>
              <a:rPr sz="1200">
                <a:solidFill>
                  <a:srgbClr val="222222"/>
                </a:solidFill>
                <a:latin typeface="Calibri"/>
              </a:rPr>
              <a:t>•  Returns scorer, minute, own goal, penalty</a:t>
            </a:r>
          </a:p>
          <a:p>
            <a:pPr algn="l">
              <a:spcAft>
                <a:spcPts val="800"/>
              </a:spcAft>
            </a:pPr>
            <a:r>
              <a:rPr sz="1200">
                <a:solidFill>
                  <a:srgbClr val="222222"/>
                </a:solidFill>
                <a:latin typeface="Calibri"/>
              </a:rPr>
              <a:t>•  Powers the goal timeline chart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365760"/>
          </a:xfrm>
          <a:prstGeom prst="rect">
            <a:avLst/>
          </a:prstGeom>
          <a:noFill/>
        </p:spPr>
        <p:txBody>
          <a:bodyPr wrap="square" lIns="45720" rIns="45720">
            <a:spAutoFit/>
          </a:bodyPr>
          <a:lstStyle/>
          <a:p>
            <a:pPr algn="l"/>
            <a:r>
              <a:rPr sz="2000" b="1">
                <a:solidFill>
                  <a:srgbClr val="FFFFFF"/>
                </a:solidFill>
                <a:latin typeface="Calibri"/>
              </a:rPr>
              <a:t>5.  Live Demo</a:t>
            </a:r>
          </a:p>
        </p:txBody>
      </p:sp>
      <p:sp>
        <p:nvSpPr>
          <p:cNvPr id="4" name="TextBox 3"/>
          <p:cNvSpPr txBox="1"/>
          <p:nvPr/>
        </p:nvSpPr>
        <p:spPr>
          <a:xfrm>
            <a:off x="457200" y="640080"/>
            <a:ext cx="10972800" cy="365760"/>
          </a:xfrm>
          <a:prstGeom prst="rect">
            <a:avLst/>
          </a:prstGeom>
          <a:noFill/>
        </p:spPr>
        <p:txBody>
          <a:bodyPr wrap="square" lIns="45720" rIns="45720">
            <a:spAutoFit/>
          </a:bodyPr>
          <a:lstStyle/>
          <a:p>
            <a:pPr algn="l"/>
            <a:r>
              <a:rPr sz="1300" b="0">
                <a:solidFill>
                  <a:srgbClr val="666666"/>
                </a:solidFill>
                <a:latin typeface="Calibri"/>
              </a:rPr>
              <a:t>Five clicks cover the whole project</a:t>
            </a:r>
          </a:p>
        </p:txBody>
      </p:sp>
      <p:sp>
        <p:nvSpPr>
          <p:cNvPr id="5" name="TextBox 4"/>
          <p:cNvSpPr txBox="1"/>
          <p:nvPr/>
        </p:nvSpPr>
        <p:spPr>
          <a:xfrm>
            <a:off x="548640" y="1097280"/>
            <a:ext cx="11064240" cy="457200"/>
          </a:xfrm>
          <a:prstGeom prst="rect">
            <a:avLst/>
          </a:prstGeom>
          <a:noFill/>
        </p:spPr>
        <p:txBody>
          <a:bodyPr wrap="square" lIns="45720" rIns="45720">
            <a:spAutoFit/>
          </a:bodyPr>
          <a:lstStyle/>
          <a:p>
            <a:pPr algn="l"/>
            <a:r>
              <a:rPr sz="1500" b="0">
                <a:solidFill>
                  <a:srgbClr val="666666"/>
                </a:solidFill>
                <a:latin typeface="Calibri"/>
              </a:rPr>
              <a:t>Demo flow (also available as a recorded screen capture)</a:t>
            </a:r>
          </a:p>
        </p:txBody>
      </p:sp>
      <p:sp>
        <p:nvSpPr>
          <p:cNvPr id="6" name="Rectangle 5"/>
          <p:cNvSpPr/>
          <p:nvPr/>
        </p:nvSpPr>
        <p:spPr>
          <a:xfrm>
            <a:off x="548640" y="1737360"/>
            <a:ext cx="548640" cy="64008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56232"/>
            <a:ext cx="548640" cy="457200"/>
          </a:xfrm>
          <a:prstGeom prst="rect">
            <a:avLst/>
          </a:prstGeom>
          <a:noFill/>
        </p:spPr>
        <p:txBody>
          <a:bodyPr wrap="square" lIns="45720" rIns="45720">
            <a:spAutoFit/>
          </a:bodyPr>
          <a:lstStyle/>
          <a:p>
            <a:pPr algn="ctr"/>
            <a:r>
              <a:rPr sz="2200" b="1">
                <a:solidFill>
                  <a:srgbClr val="FFFFFF"/>
                </a:solidFill>
                <a:latin typeface="Calibri"/>
              </a:rPr>
              <a:t>1</a:t>
            </a:r>
          </a:p>
        </p:txBody>
      </p:sp>
      <p:sp>
        <p:nvSpPr>
          <p:cNvPr id="8" name="TextBox 7"/>
          <p:cNvSpPr txBox="1"/>
          <p:nvPr/>
        </p:nvSpPr>
        <p:spPr>
          <a:xfrm>
            <a:off x="1280160" y="1737360"/>
            <a:ext cx="10332720" cy="365760"/>
          </a:xfrm>
          <a:prstGeom prst="rect">
            <a:avLst/>
          </a:prstGeom>
          <a:noFill/>
        </p:spPr>
        <p:txBody>
          <a:bodyPr wrap="square" lIns="45720" rIns="45720">
            <a:spAutoFit/>
          </a:bodyPr>
          <a:lstStyle/>
          <a:p>
            <a:pPr algn="l"/>
            <a:r>
              <a:rPr sz="1500" b="1">
                <a:solidFill>
                  <a:srgbClr val="1E4B8F"/>
                </a:solidFill>
                <a:latin typeface="Calibri"/>
              </a:rPr>
              <a:t>Who won the 2014 World Cup final?</a:t>
            </a:r>
          </a:p>
        </p:txBody>
      </p:sp>
      <p:sp>
        <p:nvSpPr>
          <p:cNvPr id="9" name="TextBox 8"/>
          <p:cNvSpPr txBox="1"/>
          <p:nvPr/>
        </p:nvSpPr>
        <p:spPr>
          <a:xfrm>
            <a:off x="1280160" y="2103120"/>
            <a:ext cx="10332720" cy="365760"/>
          </a:xfrm>
          <a:prstGeom prst="rect">
            <a:avLst/>
          </a:prstGeom>
          <a:noFill/>
        </p:spPr>
        <p:txBody>
          <a:bodyPr wrap="square" lIns="45720" rIns="45720">
            <a:spAutoFit/>
          </a:bodyPr>
          <a:lstStyle/>
          <a:p>
            <a:pPr algn="l"/>
            <a:r>
              <a:rPr sz="1200" b="0">
                <a:solidFill>
                  <a:srgbClr val="666666"/>
                </a:solidFill>
                <a:latin typeface="Calibri"/>
              </a:rPr>
              <a:t>WorldCupRAG retrieves the 12 closest matches, cites the 2014 final.</a:t>
            </a:r>
          </a:p>
        </p:txBody>
      </p:sp>
      <p:sp>
        <p:nvSpPr>
          <p:cNvPr id="10" name="Rectangle 9"/>
          <p:cNvSpPr/>
          <p:nvPr/>
        </p:nvSpPr>
        <p:spPr>
          <a:xfrm>
            <a:off x="548640" y="2606039"/>
            <a:ext cx="548640" cy="64008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724911"/>
            <a:ext cx="548640" cy="457200"/>
          </a:xfrm>
          <a:prstGeom prst="rect">
            <a:avLst/>
          </a:prstGeom>
          <a:noFill/>
        </p:spPr>
        <p:txBody>
          <a:bodyPr wrap="square" lIns="45720" rIns="45720">
            <a:spAutoFit/>
          </a:bodyPr>
          <a:lstStyle/>
          <a:p>
            <a:pPr algn="ctr"/>
            <a:r>
              <a:rPr sz="2200" b="1">
                <a:solidFill>
                  <a:srgbClr val="FFFFFF"/>
                </a:solidFill>
                <a:latin typeface="Calibri"/>
              </a:rPr>
              <a:t>2</a:t>
            </a:r>
          </a:p>
        </p:txBody>
      </p:sp>
      <p:sp>
        <p:nvSpPr>
          <p:cNvPr id="12" name="TextBox 11"/>
          <p:cNvSpPr txBox="1"/>
          <p:nvPr/>
        </p:nvSpPr>
        <p:spPr>
          <a:xfrm>
            <a:off x="1280160" y="2606039"/>
            <a:ext cx="10332720" cy="365760"/>
          </a:xfrm>
          <a:prstGeom prst="rect">
            <a:avLst/>
          </a:prstGeom>
          <a:noFill/>
        </p:spPr>
        <p:txBody>
          <a:bodyPr wrap="square" lIns="45720" rIns="45720">
            <a:spAutoFit/>
          </a:bodyPr>
          <a:lstStyle/>
          <a:p>
            <a:pPr algn="l"/>
            <a:r>
              <a:rPr sz="1500" b="1">
                <a:solidFill>
                  <a:srgbClr val="1E4B8F"/>
                </a:solidFill>
                <a:latin typeface="Calibri"/>
              </a:rPr>
              <a:t>im a brazil and france fan, can i get their history</a:t>
            </a:r>
          </a:p>
        </p:txBody>
      </p:sp>
      <p:sp>
        <p:nvSpPr>
          <p:cNvPr id="13" name="TextBox 12"/>
          <p:cNvSpPr txBox="1"/>
          <p:nvPr/>
        </p:nvSpPr>
        <p:spPr>
          <a:xfrm>
            <a:off x="1280160" y="2971799"/>
            <a:ext cx="10332720" cy="365760"/>
          </a:xfrm>
          <a:prstGeom prst="rect">
            <a:avLst/>
          </a:prstGeom>
          <a:noFill/>
        </p:spPr>
        <p:txBody>
          <a:bodyPr wrap="square" lIns="45720" rIns="45720">
            <a:spAutoFit/>
          </a:bodyPr>
          <a:lstStyle/>
          <a:p>
            <a:pPr algn="l"/>
            <a:r>
              <a:rPr sz="1200" b="0">
                <a:solidFill>
                  <a:srgbClr val="666666"/>
                </a:solidFill>
                <a:latin typeface="Calibri"/>
              </a:rPr>
              <a:t>Sidebar saves BOTH teams. Fallback chart shows Brazil vs France head to head.</a:t>
            </a:r>
          </a:p>
        </p:txBody>
      </p:sp>
      <p:sp>
        <p:nvSpPr>
          <p:cNvPr id="14" name="Rectangle 13"/>
          <p:cNvSpPr/>
          <p:nvPr/>
        </p:nvSpPr>
        <p:spPr>
          <a:xfrm>
            <a:off x="548640" y="3474720"/>
            <a:ext cx="548640" cy="64008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593592"/>
            <a:ext cx="548640" cy="457200"/>
          </a:xfrm>
          <a:prstGeom prst="rect">
            <a:avLst/>
          </a:prstGeom>
          <a:noFill/>
        </p:spPr>
        <p:txBody>
          <a:bodyPr wrap="square" lIns="45720" rIns="45720">
            <a:spAutoFit/>
          </a:bodyPr>
          <a:lstStyle/>
          <a:p>
            <a:pPr algn="ctr"/>
            <a:r>
              <a:rPr sz="2200" b="1">
                <a:solidFill>
                  <a:srgbClr val="FFFFFF"/>
                </a:solidFill>
                <a:latin typeface="Calibri"/>
              </a:rPr>
              <a:t>3</a:t>
            </a:r>
          </a:p>
        </p:txBody>
      </p:sp>
      <p:sp>
        <p:nvSpPr>
          <p:cNvPr id="16" name="TextBox 15"/>
          <p:cNvSpPr txBox="1"/>
          <p:nvPr/>
        </p:nvSpPr>
        <p:spPr>
          <a:xfrm>
            <a:off x="1280160" y="3474720"/>
            <a:ext cx="10332720" cy="365760"/>
          </a:xfrm>
          <a:prstGeom prst="rect">
            <a:avLst/>
          </a:prstGeom>
          <a:noFill/>
        </p:spPr>
        <p:txBody>
          <a:bodyPr wrap="square" lIns="45720" rIns="45720">
            <a:spAutoFit/>
          </a:bodyPr>
          <a:lstStyle/>
          <a:p>
            <a:pPr algn="l"/>
            <a:r>
              <a:rPr sz="1500" b="1">
                <a:solidFill>
                  <a:srgbClr val="1E4B8F"/>
                </a:solidFill>
                <a:latin typeface="Calibri"/>
              </a:rPr>
              <a:t>How many World Cup titles does Brazil have?</a:t>
            </a:r>
          </a:p>
        </p:txBody>
      </p:sp>
      <p:sp>
        <p:nvSpPr>
          <p:cNvPr id="17" name="TextBox 16"/>
          <p:cNvSpPr txBox="1"/>
          <p:nvPr/>
        </p:nvSpPr>
        <p:spPr>
          <a:xfrm>
            <a:off x="1280160" y="3840480"/>
            <a:ext cx="10332720" cy="365760"/>
          </a:xfrm>
          <a:prstGeom prst="rect">
            <a:avLst/>
          </a:prstGeom>
          <a:noFill/>
        </p:spPr>
        <p:txBody>
          <a:bodyPr wrap="square" lIns="45720" rIns="45720">
            <a:spAutoFit/>
          </a:bodyPr>
          <a:lstStyle/>
          <a:p>
            <a:pPr algn="l"/>
            <a:r>
              <a:rPr sz="1200" b="0">
                <a:solidFill>
                  <a:srgbClr val="666666"/>
                </a:solidFill>
                <a:latin typeface="Calibri"/>
              </a:rPr>
              <a:t>TeamStats returns 5 titles (1958 to 2002), correctly counts penalty wins.</a:t>
            </a:r>
          </a:p>
        </p:txBody>
      </p:sp>
      <p:sp>
        <p:nvSpPr>
          <p:cNvPr id="18" name="Rectangle 17"/>
          <p:cNvSpPr/>
          <p:nvPr/>
        </p:nvSpPr>
        <p:spPr>
          <a:xfrm>
            <a:off x="548640" y="4343400"/>
            <a:ext cx="548640" cy="64008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462272"/>
            <a:ext cx="548640" cy="457200"/>
          </a:xfrm>
          <a:prstGeom prst="rect">
            <a:avLst/>
          </a:prstGeom>
          <a:noFill/>
        </p:spPr>
        <p:txBody>
          <a:bodyPr wrap="square" lIns="45720" rIns="45720">
            <a:spAutoFit/>
          </a:bodyPr>
          <a:lstStyle/>
          <a:p>
            <a:pPr algn="ctr"/>
            <a:r>
              <a:rPr sz="2200" b="1">
                <a:solidFill>
                  <a:srgbClr val="FFFFFF"/>
                </a:solidFill>
                <a:latin typeface="Calibri"/>
              </a:rPr>
              <a:t>4</a:t>
            </a:r>
          </a:p>
        </p:txBody>
      </p:sp>
      <p:sp>
        <p:nvSpPr>
          <p:cNvPr id="20" name="TextBox 19"/>
          <p:cNvSpPr txBox="1"/>
          <p:nvPr/>
        </p:nvSpPr>
        <p:spPr>
          <a:xfrm>
            <a:off x="1280160" y="4343400"/>
            <a:ext cx="10332720" cy="365760"/>
          </a:xfrm>
          <a:prstGeom prst="rect">
            <a:avLst/>
          </a:prstGeom>
          <a:noFill/>
        </p:spPr>
        <p:txBody>
          <a:bodyPr wrap="square" lIns="45720" rIns="45720">
            <a:spAutoFit/>
          </a:bodyPr>
          <a:lstStyle/>
          <a:p>
            <a:pPr algn="l"/>
            <a:r>
              <a:rPr sz="1500" b="1">
                <a:solidFill>
                  <a:srgbClr val="1E4B8F"/>
                </a:solidFill>
                <a:latin typeface="Calibri"/>
              </a:rPr>
              <a:t>Show goals from Germany vs Brazil 2014</a:t>
            </a:r>
          </a:p>
        </p:txBody>
      </p:sp>
      <p:sp>
        <p:nvSpPr>
          <p:cNvPr id="21" name="TextBox 20"/>
          <p:cNvSpPr txBox="1"/>
          <p:nvPr/>
        </p:nvSpPr>
        <p:spPr>
          <a:xfrm>
            <a:off x="1280160" y="4709160"/>
            <a:ext cx="10332720" cy="365760"/>
          </a:xfrm>
          <a:prstGeom prst="rect">
            <a:avLst/>
          </a:prstGeom>
          <a:noFill/>
        </p:spPr>
        <p:txBody>
          <a:bodyPr wrap="square" lIns="45720" rIns="45720">
            <a:spAutoFit/>
          </a:bodyPr>
          <a:lstStyle/>
          <a:p>
            <a:pPr algn="l"/>
            <a:r>
              <a:rPr sz="1200" b="0">
                <a:solidFill>
                  <a:srgbClr val="666666"/>
                </a:solidFill>
                <a:latin typeface="Calibri"/>
              </a:rPr>
              <a:t>MatchGoals returns the 7-1 thrashing; goal timeline chart renders below.</a:t>
            </a:r>
          </a:p>
        </p:txBody>
      </p:sp>
      <p:sp>
        <p:nvSpPr>
          <p:cNvPr id="22" name="Rectangle 21"/>
          <p:cNvSpPr/>
          <p:nvPr/>
        </p:nvSpPr>
        <p:spPr>
          <a:xfrm>
            <a:off x="548640" y="5212079"/>
            <a:ext cx="548640" cy="64008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30951"/>
            <a:ext cx="548640" cy="457200"/>
          </a:xfrm>
          <a:prstGeom prst="rect">
            <a:avLst/>
          </a:prstGeom>
          <a:noFill/>
        </p:spPr>
        <p:txBody>
          <a:bodyPr wrap="square" lIns="45720" rIns="45720">
            <a:spAutoFit/>
          </a:bodyPr>
          <a:lstStyle/>
          <a:p>
            <a:pPr algn="ctr"/>
            <a:r>
              <a:rPr sz="2200" b="1">
                <a:solidFill>
                  <a:srgbClr val="FFFFFF"/>
                </a:solidFill>
                <a:latin typeface="Calibri"/>
              </a:rPr>
              <a:t>5</a:t>
            </a:r>
          </a:p>
        </p:txBody>
      </p:sp>
      <p:sp>
        <p:nvSpPr>
          <p:cNvPr id="24" name="TextBox 23"/>
          <p:cNvSpPr txBox="1"/>
          <p:nvPr/>
        </p:nvSpPr>
        <p:spPr>
          <a:xfrm>
            <a:off x="1280160" y="5212079"/>
            <a:ext cx="10332720" cy="365760"/>
          </a:xfrm>
          <a:prstGeom prst="rect">
            <a:avLst/>
          </a:prstGeom>
          <a:noFill/>
        </p:spPr>
        <p:txBody>
          <a:bodyPr wrap="square" lIns="45720" rIns="45720">
            <a:spAutoFit/>
          </a:bodyPr>
          <a:lstStyle/>
          <a:p>
            <a:pPr algn="l"/>
            <a:r>
              <a:rPr sz="1500" b="1">
                <a:solidFill>
                  <a:srgbClr val="1E4B8F"/>
                </a:solidFill>
                <a:latin typeface="Calibri"/>
              </a:rPr>
              <a:t>Surprise me  (sidebar button)</a:t>
            </a:r>
          </a:p>
        </p:txBody>
      </p:sp>
      <p:sp>
        <p:nvSpPr>
          <p:cNvPr id="25" name="TextBox 24"/>
          <p:cNvSpPr txBox="1"/>
          <p:nvPr/>
        </p:nvSpPr>
        <p:spPr>
          <a:xfrm>
            <a:off x="1280160" y="5577839"/>
            <a:ext cx="10332720" cy="365760"/>
          </a:xfrm>
          <a:prstGeom prst="rect">
            <a:avLst/>
          </a:prstGeom>
          <a:noFill/>
        </p:spPr>
        <p:txBody>
          <a:bodyPr wrap="square" lIns="45720" rIns="45720">
            <a:spAutoFit/>
          </a:bodyPr>
          <a:lstStyle/>
          <a:p>
            <a:pPr algn="l"/>
            <a:r>
              <a:rPr sz="1200" b="0">
                <a:solidFill>
                  <a:srgbClr val="666666"/>
                </a:solidFill>
                <a:latin typeface="Calibri"/>
              </a:rPr>
              <a:t>Random query fires; demonstrates the polish.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365760"/>
          </a:xfrm>
          <a:prstGeom prst="rect">
            <a:avLst/>
          </a:prstGeom>
          <a:noFill/>
        </p:spPr>
        <p:txBody>
          <a:bodyPr wrap="square" lIns="45720" rIns="45720">
            <a:spAutoFit/>
          </a:bodyPr>
          <a:lstStyle/>
          <a:p>
            <a:pPr algn="l"/>
            <a:r>
              <a:rPr sz="2000" b="1">
                <a:solidFill>
                  <a:srgbClr val="FFFFFF"/>
                </a:solidFill>
                <a:latin typeface="Calibri"/>
              </a:rPr>
              <a:t>6.  Innovation Beyond Base</a:t>
            </a:r>
          </a:p>
        </p:txBody>
      </p:sp>
      <p:sp>
        <p:nvSpPr>
          <p:cNvPr id="4" name="TextBox 3"/>
          <p:cNvSpPr txBox="1"/>
          <p:nvPr/>
        </p:nvSpPr>
        <p:spPr>
          <a:xfrm>
            <a:off x="457200" y="640080"/>
            <a:ext cx="10972800" cy="365760"/>
          </a:xfrm>
          <a:prstGeom prst="rect">
            <a:avLst/>
          </a:prstGeom>
          <a:noFill/>
        </p:spPr>
        <p:txBody>
          <a:bodyPr wrap="square" lIns="45720" rIns="45720">
            <a:spAutoFit/>
          </a:bodyPr>
          <a:lstStyle/>
          <a:p>
            <a:pPr algn="l"/>
            <a:r>
              <a:rPr sz="1300" b="0">
                <a:solidFill>
                  <a:srgbClr val="666666"/>
                </a:solidFill>
                <a:latin typeface="Calibri"/>
              </a:rPr>
              <a:t>Where we went past the rubric requirements</a:t>
            </a:r>
          </a:p>
        </p:txBody>
      </p:sp>
      <p:sp>
        <p:nvSpPr>
          <p:cNvPr id="5" name="Rectangle 4"/>
          <p:cNvSpPr/>
          <p:nvPr/>
        </p:nvSpPr>
        <p:spPr>
          <a:xfrm>
            <a:off x="548640" y="1097280"/>
            <a:ext cx="228600" cy="731520"/>
          </a:xfrm>
          <a:prstGeom prst="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097280"/>
            <a:ext cx="10698480" cy="365760"/>
          </a:xfrm>
          <a:prstGeom prst="rect">
            <a:avLst/>
          </a:prstGeom>
          <a:noFill/>
        </p:spPr>
        <p:txBody>
          <a:bodyPr wrap="square" lIns="45720" rIns="45720">
            <a:spAutoFit/>
          </a:bodyPr>
          <a:lstStyle/>
          <a:p>
            <a:pPr algn="l"/>
            <a:r>
              <a:rPr sz="1500" b="1">
                <a:solidFill>
                  <a:srgbClr val="1E4B8F"/>
                </a:solidFill>
                <a:latin typeface="Calibri"/>
              </a:rPr>
              <a:t>Live agent reasoning panel</a:t>
            </a:r>
          </a:p>
        </p:txBody>
      </p:sp>
      <p:sp>
        <p:nvSpPr>
          <p:cNvPr id="7" name="TextBox 6"/>
          <p:cNvSpPr txBox="1"/>
          <p:nvPr/>
        </p:nvSpPr>
        <p:spPr>
          <a:xfrm>
            <a:off x="914400" y="1444752"/>
            <a:ext cx="10698480" cy="502920"/>
          </a:xfrm>
          <a:prstGeom prst="rect">
            <a:avLst/>
          </a:prstGeom>
          <a:noFill/>
        </p:spPr>
        <p:txBody>
          <a:bodyPr wrap="square" lIns="45720" rIns="45720">
            <a:spAutoFit/>
          </a:bodyPr>
          <a:lstStyle/>
          <a:p>
            <a:pPr algn="l"/>
            <a:r>
              <a:rPr sz="1200" b="0">
                <a:solidFill>
                  <a:srgbClr val="222222"/>
                </a:solidFill>
                <a:latin typeface="Calibri"/>
              </a:rPr>
              <a:t>Streamlit sidebar shows Thought / Action / Observation in real time. An explainability overlay on every answer.</a:t>
            </a:r>
          </a:p>
        </p:txBody>
      </p:sp>
      <p:sp>
        <p:nvSpPr>
          <p:cNvPr id="8" name="Rectangle 7"/>
          <p:cNvSpPr/>
          <p:nvPr/>
        </p:nvSpPr>
        <p:spPr>
          <a:xfrm>
            <a:off x="548640" y="1965960"/>
            <a:ext cx="228600" cy="731520"/>
          </a:xfrm>
          <a:prstGeom prst="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65960"/>
            <a:ext cx="10698480" cy="365760"/>
          </a:xfrm>
          <a:prstGeom prst="rect">
            <a:avLst/>
          </a:prstGeom>
          <a:noFill/>
        </p:spPr>
        <p:txBody>
          <a:bodyPr wrap="square" lIns="45720" rIns="45720">
            <a:spAutoFit/>
          </a:bodyPr>
          <a:lstStyle/>
          <a:p>
            <a:pPr algn="l"/>
            <a:r>
              <a:rPr sz="1500" b="1">
                <a:solidFill>
                  <a:srgbClr val="1E4B8F"/>
                </a:solidFill>
                <a:latin typeface="Calibri"/>
              </a:rPr>
              <a:t>5 chart types, auto-rendered by query intent</a:t>
            </a:r>
          </a:p>
        </p:txBody>
      </p:sp>
      <p:sp>
        <p:nvSpPr>
          <p:cNvPr id="10" name="TextBox 9"/>
          <p:cNvSpPr txBox="1"/>
          <p:nvPr/>
        </p:nvSpPr>
        <p:spPr>
          <a:xfrm>
            <a:off x="914400" y="2313432"/>
            <a:ext cx="10698480" cy="502920"/>
          </a:xfrm>
          <a:prstGeom prst="rect">
            <a:avLst/>
          </a:prstGeom>
          <a:noFill/>
        </p:spPr>
        <p:txBody>
          <a:bodyPr wrap="square" lIns="45720" rIns="45720">
            <a:spAutoFit/>
          </a:bodyPr>
          <a:lstStyle/>
          <a:p>
            <a:pPr algn="l"/>
            <a:r>
              <a:rPr sz="1200" b="0">
                <a:solidFill>
                  <a:srgbClr val="222222"/>
                </a:solidFill>
                <a:latin typeface="Calibri"/>
              </a:rPr>
              <a:t>Head to head (all time + recent), World Cup titles ranking, top scorers, team record (wins / draws / losses), goal by goal match timeline. Smart triggers pick the right chart for each question.</a:t>
            </a:r>
          </a:p>
        </p:txBody>
      </p:sp>
      <p:sp>
        <p:nvSpPr>
          <p:cNvPr id="11" name="Rectangle 10"/>
          <p:cNvSpPr/>
          <p:nvPr/>
        </p:nvSpPr>
        <p:spPr>
          <a:xfrm>
            <a:off x="548640" y="2834639"/>
            <a:ext cx="228600" cy="731520"/>
          </a:xfrm>
          <a:prstGeom prst="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34639"/>
            <a:ext cx="10698480" cy="365760"/>
          </a:xfrm>
          <a:prstGeom prst="rect">
            <a:avLst/>
          </a:prstGeom>
          <a:noFill/>
        </p:spPr>
        <p:txBody>
          <a:bodyPr wrap="square" lIns="45720" rIns="45720">
            <a:spAutoFit/>
          </a:bodyPr>
          <a:lstStyle/>
          <a:p>
            <a:pPr algn="l"/>
            <a:r>
              <a:rPr sz="1500" b="1">
                <a:solidFill>
                  <a:srgbClr val="1E4B8F"/>
                </a:solidFill>
                <a:latin typeface="Calibri"/>
              </a:rPr>
              <a:t>Multi-team UserPreferences memory</a:t>
            </a:r>
          </a:p>
        </p:txBody>
      </p:sp>
      <p:sp>
        <p:nvSpPr>
          <p:cNvPr id="13" name="TextBox 12"/>
          <p:cNvSpPr txBox="1"/>
          <p:nvPr/>
        </p:nvSpPr>
        <p:spPr>
          <a:xfrm>
            <a:off x="914400" y="3182111"/>
            <a:ext cx="10698480" cy="502920"/>
          </a:xfrm>
          <a:prstGeom prst="rect">
            <a:avLst/>
          </a:prstGeom>
          <a:noFill/>
        </p:spPr>
        <p:txBody>
          <a:bodyPr wrap="square" lIns="45720" rIns="45720">
            <a:spAutoFit/>
          </a:bodyPr>
          <a:lstStyle/>
          <a:p>
            <a:pPr algn="l"/>
            <a:r>
              <a:rPr sz="1200" b="0">
                <a:solidFill>
                  <a:srgbClr val="222222"/>
                </a:solidFill>
                <a:latin typeface="Calibri"/>
              </a:rPr>
              <a:t>Detects one OR multiple favorite teams + era focus from natural phrasings. Sidebar shows the live state and lets users speak with pronouns like 'their' across the chat.</a:t>
            </a:r>
          </a:p>
        </p:txBody>
      </p:sp>
      <p:sp>
        <p:nvSpPr>
          <p:cNvPr id="14" name="Rectangle 13"/>
          <p:cNvSpPr/>
          <p:nvPr/>
        </p:nvSpPr>
        <p:spPr>
          <a:xfrm>
            <a:off x="548640" y="3703320"/>
            <a:ext cx="228600" cy="731520"/>
          </a:xfrm>
          <a:prstGeom prst="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703320"/>
            <a:ext cx="10698480" cy="365760"/>
          </a:xfrm>
          <a:prstGeom prst="rect">
            <a:avLst/>
          </a:prstGeom>
          <a:noFill/>
        </p:spPr>
        <p:txBody>
          <a:bodyPr wrap="square" lIns="45720" rIns="45720">
            <a:spAutoFit/>
          </a:bodyPr>
          <a:lstStyle/>
          <a:p>
            <a:pPr algn="l"/>
            <a:r>
              <a:rPr sz="1500" b="1">
                <a:solidFill>
                  <a:srgbClr val="1E4B8F"/>
                </a:solidFill>
                <a:latin typeface="Calibri"/>
              </a:rPr>
              <a:t>Penalty shootout handling</a:t>
            </a:r>
          </a:p>
        </p:txBody>
      </p:sp>
      <p:sp>
        <p:nvSpPr>
          <p:cNvPr id="16" name="TextBox 15"/>
          <p:cNvSpPr txBox="1"/>
          <p:nvPr/>
        </p:nvSpPr>
        <p:spPr>
          <a:xfrm>
            <a:off x="914400" y="4050792"/>
            <a:ext cx="10698480" cy="502920"/>
          </a:xfrm>
          <a:prstGeom prst="rect">
            <a:avLst/>
          </a:prstGeom>
          <a:noFill/>
        </p:spPr>
        <p:txBody>
          <a:bodyPr wrap="square" lIns="45720" rIns="45720">
            <a:spAutoFit/>
          </a:bodyPr>
          <a:lstStyle/>
          <a:p>
            <a:pPr algn="l"/>
            <a:r>
              <a:rPr sz="1200" b="0">
                <a:solidFill>
                  <a:srgbClr val="222222"/>
                </a:solidFill>
                <a:latin typeface="Calibri"/>
              </a:rPr>
              <a:t>Most teams miss it; we cross reference shootouts.csv so Italy 2006 and Argentina 2022 are correctly attributed.</a:t>
            </a:r>
          </a:p>
        </p:txBody>
      </p:sp>
      <p:sp>
        <p:nvSpPr>
          <p:cNvPr id="17" name="Rectangle 16"/>
          <p:cNvSpPr/>
          <p:nvPr/>
        </p:nvSpPr>
        <p:spPr>
          <a:xfrm>
            <a:off x="548640" y="4572000"/>
            <a:ext cx="228600" cy="731520"/>
          </a:xfrm>
          <a:prstGeom prst="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72000"/>
            <a:ext cx="10698480" cy="365760"/>
          </a:xfrm>
          <a:prstGeom prst="rect">
            <a:avLst/>
          </a:prstGeom>
          <a:noFill/>
        </p:spPr>
        <p:txBody>
          <a:bodyPr wrap="square" lIns="45720" rIns="45720">
            <a:spAutoFit/>
          </a:bodyPr>
          <a:lstStyle/>
          <a:p>
            <a:pPr algn="l"/>
            <a:r>
              <a:rPr sz="1500" b="1">
                <a:solidFill>
                  <a:srgbClr val="1E4B8F"/>
                </a:solidFill>
                <a:latin typeface="Calibri"/>
              </a:rPr>
              <a:t>Suggested questions sidebar + Surprise me button</a:t>
            </a:r>
          </a:p>
        </p:txBody>
      </p:sp>
      <p:sp>
        <p:nvSpPr>
          <p:cNvPr id="19" name="TextBox 18"/>
          <p:cNvSpPr txBox="1"/>
          <p:nvPr/>
        </p:nvSpPr>
        <p:spPr>
          <a:xfrm>
            <a:off x="914400" y="4919472"/>
            <a:ext cx="10698480" cy="502920"/>
          </a:xfrm>
          <a:prstGeom prst="rect">
            <a:avLst/>
          </a:prstGeom>
          <a:noFill/>
        </p:spPr>
        <p:txBody>
          <a:bodyPr wrap="square" lIns="45720" rIns="45720">
            <a:spAutoFit/>
          </a:bodyPr>
          <a:lstStyle/>
          <a:p>
            <a:pPr algn="l"/>
            <a:r>
              <a:rPr sz="1200" b="0">
                <a:solidFill>
                  <a:srgbClr val="222222"/>
                </a:solidFill>
                <a:latin typeface="Calibri"/>
              </a:rPr>
              <a:t>Onboarding for new users, ready made demo prompts for judges.</a:t>
            </a:r>
          </a:p>
        </p:txBody>
      </p:sp>
      <p:sp>
        <p:nvSpPr>
          <p:cNvPr id="20" name="Rectangle 19"/>
          <p:cNvSpPr/>
          <p:nvPr/>
        </p:nvSpPr>
        <p:spPr>
          <a:xfrm>
            <a:off x="548640" y="5440680"/>
            <a:ext cx="228600" cy="731520"/>
          </a:xfrm>
          <a:prstGeom prst="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440680"/>
            <a:ext cx="10698480" cy="365760"/>
          </a:xfrm>
          <a:prstGeom prst="rect">
            <a:avLst/>
          </a:prstGeom>
          <a:noFill/>
        </p:spPr>
        <p:txBody>
          <a:bodyPr wrap="square" lIns="45720" rIns="45720">
            <a:spAutoFit/>
          </a:bodyPr>
          <a:lstStyle/>
          <a:p>
            <a:pPr algn="l"/>
            <a:r>
              <a:rPr sz="1500" b="1">
                <a:solidFill>
                  <a:srgbClr val="1E4B8F"/>
                </a:solidFill>
                <a:latin typeface="Calibri"/>
              </a:rPr>
              <a:t>Two-layer scope guardrails</a:t>
            </a:r>
          </a:p>
        </p:txBody>
      </p:sp>
      <p:sp>
        <p:nvSpPr>
          <p:cNvPr id="22" name="TextBox 21"/>
          <p:cNvSpPr txBox="1"/>
          <p:nvPr/>
        </p:nvSpPr>
        <p:spPr>
          <a:xfrm>
            <a:off x="914400" y="5788152"/>
            <a:ext cx="10698480" cy="502920"/>
          </a:xfrm>
          <a:prstGeom prst="rect">
            <a:avLst/>
          </a:prstGeom>
          <a:noFill/>
        </p:spPr>
        <p:txBody>
          <a:bodyPr wrap="square" lIns="45720" rIns="45720">
            <a:spAutoFit/>
          </a:bodyPr>
          <a:lstStyle/>
          <a:p>
            <a:pPr algn="l"/>
            <a:r>
              <a:rPr sz="1200" b="0">
                <a:solidFill>
                  <a:srgbClr val="222222"/>
                </a:solidFill>
                <a:latin typeface="Calibri"/>
              </a:rPr>
              <a:t>Agent refuses off-topic questions (weather, news, etc.) without calling any tool. UI also suppresses charts on refusals so the visual never contradicts a 'cannot answer' response.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365760"/>
          </a:xfrm>
          <a:prstGeom prst="rect">
            <a:avLst/>
          </a:prstGeom>
          <a:noFill/>
        </p:spPr>
        <p:txBody>
          <a:bodyPr wrap="square" lIns="45720" rIns="45720">
            <a:spAutoFit/>
          </a:bodyPr>
          <a:lstStyle/>
          <a:p>
            <a:pPr algn="l"/>
            <a:r>
              <a:rPr sz="2000" b="1">
                <a:solidFill>
                  <a:srgbClr val="FFFFFF"/>
                </a:solidFill>
                <a:latin typeface="Calibri"/>
              </a:rPr>
              <a:t>7.  Reflections &amp; What's Next</a:t>
            </a:r>
          </a:p>
        </p:txBody>
      </p:sp>
      <p:sp>
        <p:nvSpPr>
          <p:cNvPr id="4" name="TextBox 3"/>
          <p:cNvSpPr txBox="1"/>
          <p:nvPr/>
        </p:nvSpPr>
        <p:spPr>
          <a:xfrm>
            <a:off x="457200" y="640080"/>
            <a:ext cx="10972800" cy="365760"/>
          </a:xfrm>
          <a:prstGeom prst="rect">
            <a:avLst/>
          </a:prstGeom>
          <a:noFill/>
        </p:spPr>
        <p:txBody>
          <a:bodyPr wrap="square" lIns="45720" rIns="45720">
            <a:spAutoFit/>
          </a:bodyPr>
          <a:lstStyle/>
          <a:p>
            <a:pPr algn="l"/>
            <a:r>
              <a:rPr sz="1300" b="0">
                <a:solidFill>
                  <a:srgbClr val="666666"/>
                </a:solidFill>
                <a:latin typeface="Calibri"/>
              </a:rPr>
              <a:t>What worked, what we'd improve</a:t>
            </a:r>
          </a:p>
        </p:txBody>
      </p:sp>
      <p:sp>
        <p:nvSpPr>
          <p:cNvPr id="5" name="Rectangle 4"/>
          <p:cNvSpPr/>
          <p:nvPr/>
        </p:nvSpPr>
        <p:spPr>
          <a:xfrm>
            <a:off x="548640" y="1188720"/>
            <a:ext cx="5486400" cy="3200400"/>
          </a:xfrm>
          <a:prstGeom prst="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80160"/>
            <a:ext cx="5120640" cy="457200"/>
          </a:xfrm>
          <a:prstGeom prst="rect">
            <a:avLst/>
          </a:prstGeom>
          <a:noFill/>
        </p:spPr>
        <p:txBody>
          <a:bodyPr wrap="square" lIns="45720" rIns="45720">
            <a:spAutoFit/>
          </a:bodyPr>
          <a:lstStyle/>
          <a:p>
            <a:pPr algn="l"/>
            <a:r>
              <a:rPr sz="1800" b="1">
                <a:solidFill>
                  <a:srgbClr val="2E7D32"/>
                </a:solidFill>
                <a:latin typeface="Calibri"/>
              </a:rPr>
              <a:t>What worked</a:t>
            </a:r>
          </a:p>
        </p:txBody>
      </p:sp>
      <p:sp>
        <p:nvSpPr>
          <p:cNvPr id="7" name="TextBox 6"/>
          <p:cNvSpPr txBox="1"/>
          <p:nvPr/>
        </p:nvSpPr>
        <p:spPr>
          <a:xfrm>
            <a:off x="731520" y="1783080"/>
            <a:ext cx="5120640" cy="2468880"/>
          </a:xfrm>
          <a:prstGeom prst="rect">
            <a:avLst/>
          </a:prstGeom>
          <a:noFill/>
        </p:spPr>
        <p:txBody>
          <a:bodyPr wrap="square">
            <a:spAutoFit/>
          </a:bodyPr>
          <a:lstStyle/>
          <a:p>
            <a:pPr algn="l">
              <a:spcAft>
                <a:spcPts val="800"/>
              </a:spcAft>
            </a:pPr>
            <a:r>
              <a:rPr sz="1300">
                <a:solidFill>
                  <a:srgbClr val="222222"/>
                </a:solidFill>
                <a:latin typeface="Calibri"/>
              </a:rPr>
              <a:t>•  ReAct agent routed cleanly between 4 tools</a:t>
            </a:r>
          </a:p>
          <a:p>
            <a:pPr algn="l">
              <a:spcAft>
                <a:spcPts val="800"/>
              </a:spcAft>
            </a:pPr>
            <a:r>
              <a:rPr sz="1300">
                <a:solidFill>
                  <a:srgbClr val="222222"/>
                </a:solidFill>
                <a:latin typeface="Calibri"/>
              </a:rPr>
              <a:t>•  Tool descriptions were the highest-leverage prompt</a:t>
            </a:r>
          </a:p>
          <a:p>
            <a:pPr algn="l">
              <a:spcAft>
                <a:spcPts val="800"/>
              </a:spcAft>
            </a:pPr>
            <a:r>
              <a:rPr sz="1300">
                <a:solidFill>
                  <a:srgbClr val="222222"/>
                </a:solidFill>
                <a:latin typeface="Calibri"/>
              </a:rPr>
              <a:t>•  Streamlit + sidebar buttons = effortless demo flow</a:t>
            </a:r>
          </a:p>
          <a:p>
            <a:pPr algn="l">
              <a:spcAft>
                <a:spcPts val="800"/>
              </a:spcAft>
            </a:pPr>
            <a:r>
              <a:rPr sz="1300">
                <a:solidFill>
                  <a:srgbClr val="222222"/>
                </a:solidFill>
                <a:latin typeface="Calibri"/>
              </a:rPr>
              <a:t>•  Caching the Chroma store made re-runs instant</a:t>
            </a:r>
          </a:p>
          <a:p>
            <a:pPr algn="l">
              <a:spcAft>
                <a:spcPts val="800"/>
              </a:spcAft>
            </a:pPr>
            <a:r>
              <a:rPr sz="1300">
                <a:solidFill>
                  <a:srgbClr val="222222"/>
                </a:solidFill>
                <a:latin typeface="Calibri"/>
              </a:rPr>
              <a:t>•  Per-tool limitations satisfied the grounded reasoning rubric</a:t>
            </a:r>
          </a:p>
        </p:txBody>
      </p:sp>
      <p:sp>
        <p:nvSpPr>
          <p:cNvPr id="8" name="Rectangle 7"/>
          <p:cNvSpPr/>
          <p:nvPr/>
        </p:nvSpPr>
        <p:spPr>
          <a:xfrm>
            <a:off x="6309360" y="1188720"/>
            <a:ext cx="5486400" cy="3200400"/>
          </a:xfrm>
          <a:prstGeom prst="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280160"/>
            <a:ext cx="5120640" cy="457200"/>
          </a:xfrm>
          <a:prstGeom prst="rect">
            <a:avLst/>
          </a:prstGeom>
          <a:noFill/>
        </p:spPr>
        <p:txBody>
          <a:bodyPr wrap="square" lIns="45720" rIns="45720">
            <a:spAutoFit/>
          </a:bodyPr>
          <a:lstStyle/>
          <a:p>
            <a:pPr algn="l"/>
            <a:r>
              <a:rPr sz="1800" b="1">
                <a:solidFill>
                  <a:srgbClr val="E53935"/>
                </a:solidFill>
                <a:latin typeface="Calibri"/>
              </a:rPr>
              <a:t>What we'd add next</a:t>
            </a:r>
          </a:p>
        </p:txBody>
      </p:sp>
      <p:sp>
        <p:nvSpPr>
          <p:cNvPr id="10" name="TextBox 9"/>
          <p:cNvSpPr txBox="1"/>
          <p:nvPr/>
        </p:nvSpPr>
        <p:spPr>
          <a:xfrm>
            <a:off x="6492240" y="1783080"/>
            <a:ext cx="5120640" cy="2468880"/>
          </a:xfrm>
          <a:prstGeom prst="rect">
            <a:avLst/>
          </a:prstGeom>
          <a:noFill/>
        </p:spPr>
        <p:txBody>
          <a:bodyPr wrap="square">
            <a:spAutoFit/>
          </a:bodyPr>
          <a:lstStyle/>
          <a:p>
            <a:pPr algn="l">
              <a:spcAft>
                <a:spcPts val="800"/>
              </a:spcAft>
            </a:pPr>
            <a:r>
              <a:rPr sz="1300">
                <a:solidFill>
                  <a:srgbClr val="222222"/>
                </a:solidFill>
                <a:latin typeface="Calibri"/>
              </a:rPr>
              <a:t>•  StatsBomb event data → shot maps, pressure events</a:t>
            </a:r>
          </a:p>
          <a:p>
            <a:pPr algn="l">
              <a:spcAft>
                <a:spcPts val="800"/>
              </a:spcAft>
            </a:pPr>
            <a:r>
              <a:rPr sz="1300">
                <a:solidFill>
                  <a:srgbClr val="222222"/>
                </a:solidFill>
                <a:latin typeface="Calibri"/>
              </a:rPr>
              <a:t>•  Multi-team comparison (3+ teams side by side)</a:t>
            </a:r>
          </a:p>
          <a:p>
            <a:pPr algn="l">
              <a:spcAft>
                <a:spcPts val="800"/>
              </a:spcAft>
            </a:pPr>
            <a:r>
              <a:rPr sz="1300">
                <a:solidFill>
                  <a:srgbClr val="222222"/>
                </a:solidFill>
                <a:latin typeface="Calibri"/>
              </a:rPr>
              <a:t>•  Live match data API for 2026 fixtures</a:t>
            </a:r>
          </a:p>
          <a:p>
            <a:pPr algn="l">
              <a:spcAft>
                <a:spcPts val="800"/>
              </a:spcAft>
            </a:pPr>
            <a:r>
              <a:rPr sz="1300">
                <a:solidFill>
                  <a:srgbClr val="222222"/>
                </a:solidFill>
                <a:latin typeface="Calibri"/>
              </a:rPr>
              <a:t>•  Cross-era predictions (1970 Brazil vs 2022 Argentina)</a:t>
            </a:r>
          </a:p>
          <a:p>
            <a:pPr algn="l">
              <a:spcAft>
                <a:spcPts val="800"/>
              </a:spcAft>
            </a:pPr>
            <a:r>
              <a:rPr sz="1300">
                <a:solidFill>
                  <a:srgbClr val="222222"/>
                </a:solidFill>
                <a:latin typeface="Calibri"/>
              </a:rPr>
              <a:t>•  PDF export of match reports</a:t>
            </a:r>
          </a:p>
        </p:txBody>
      </p:sp>
      <p:sp>
        <p:nvSpPr>
          <p:cNvPr id="11" name="Rectangle 10"/>
          <p:cNvSpPr/>
          <p:nvPr/>
        </p:nvSpPr>
        <p:spPr>
          <a:xfrm>
            <a:off x="548640" y="4663440"/>
            <a:ext cx="11247120" cy="1645920"/>
          </a:xfrm>
          <a:prstGeom prst="rect">
            <a:avLst/>
          </a:prstGeom>
          <a:solidFill>
            <a:srgbClr val="1E4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846320"/>
            <a:ext cx="11247120" cy="548640"/>
          </a:xfrm>
          <a:prstGeom prst="rect">
            <a:avLst/>
          </a:prstGeom>
          <a:noFill/>
        </p:spPr>
        <p:txBody>
          <a:bodyPr wrap="square" lIns="45720" rIns="45720">
            <a:spAutoFit/>
          </a:bodyPr>
          <a:lstStyle/>
          <a:p>
            <a:pPr algn="ctr"/>
            <a:r>
              <a:rPr sz="1600" b="1">
                <a:solidFill>
                  <a:srgbClr val="FFD700"/>
                </a:solidFill>
                <a:latin typeface="Calibri"/>
              </a:rPr>
              <a:t>Biggest lesson</a:t>
            </a:r>
          </a:p>
        </p:txBody>
      </p:sp>
      <p:sp>
        <p:nvSpPr>
          <p:cNvPr id="13" name="TextBox 12"/>
          <p:cNvSpPr txBox="1"/>
          <p:nvPr/>
        </p:nvSpPr>
        <p:spPr>
          <a:xfrm>
            <a:off x="914400" y="5212080"/>
            <a:ext cx="10332720" cy="914400"/>
          </a:xfrm>
          <a:prstGeom prst="rect">
            <a:avLst/>
          </a:prstGeom>
          <a:noFill/>
        </p:spPr>
        <p:txBody>
          <a:bodyPr wrap="square" lIns="45720" rIns="45720">
            <a:spAutoFit/>
          </a:bodyPr>
          <a:lstStyle/>
          <a:p>
            <a:pPr algn="ctr"/>
            <a:r>
              <a:rPr sz="1500" b="0">
                <a:solidFill>
                  <a:srgbClr val="FFFFFF"/>
                </a:solidFill>
                <a:latin typeface="Calibri"/>
              </a:rPr>
              <a:t>An agent's behavior depends more on what we write (tool descriptions and ReAct prompt) than on the LLM itself. The model is the engine, the prompt and tools are the steering wheel.</a:t>
            </a:r>
          </a:p>
        </p:txBody>
      </p:sp>
      <p:sp>
        <p:nvSpPr>
          <p:cNvPr id="14" name="TextBox 13"/>
          <p:cNvSpPr txBox="1"/>
          <p:nvPr/>
        </p:nvSpPr>
        <p:spPr>
          <a:xfrm>
            <a:off x="548640" y="6400800"/>
            <a:ext cx="11247120" cy="365760"/>
          </a:xfrm>
          <a:prstGeom prst="rect">
            <a:avLst/>
          </a:prstGeom>
          <a:noFill/>
        </p:spPr>
        <p:txBody>
          <a:bodyPr wrap="square">
            <a:spAutoFit/>
          </a:bodyPr>
          <a:lstStyle/>
          <a:p>
            <a:pPr algn="ctr"/>
            <a:r>
              <a:rPr sz="1400" b="1">
                <a:solidFill>
                  <a:srgbClr val="666666"/>
                </a:solidFill>
                <a:latin typeface="Calibri"/>
              </a:rPr>
              <a:t>Thank you  ·  Repo: </a:t>
            </a:r>
            <a:r>
              <a:rPr sz="1400" b="1">
                <a:solidFill>
                  <a:srgbClr val="666666"/>
                </a:solidFill>
                <a:latin typeface="Calibri"/>
                <a:hlinkClick r:id="rId2"/>
              </a:rPr>
              <a:t>github.com/Neenu1234/WorldCupGenAI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